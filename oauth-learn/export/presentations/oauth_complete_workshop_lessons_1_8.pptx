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WORKSHOP · LESSONS 1–8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2.0, JWT/JOSE &amp; FAPI 2.0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core mental model to high-security FAPI — one connected story.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57200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57200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4520" y="4572000"/>
            <a:ext cx="1170432" cy="384048"/>
          </a:xfrm>
          <a:prstGeom prst="roundRect">
            <a:avLst>
              <a:gd name="adj" fmla="val 50000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4572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27832" y="457200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27832" y="45720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/ JOSE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56632" y="4572000"/>
            <a:ext cx="2478024" cy="384048"/>
          </a:xfrm>
          <a:prstGeom prst="roundRect">
            <a:avLst>
              <a:gd name="adj" fmla="val 50000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56632" y="4572000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controls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17536" y="4572000"/>
            <a:ext cx="1408176" cy="384048"/>
          </a:xfrm>
          <a:prstGeom prst="roundRect">
            <a:avLst>
              <a:gd name="adj" fmla="val 50000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17536" y="4572000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FAPI 2.0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lessons, one mental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JWT/JOSE  ·  FAPI 2.0  —  Complete Workshop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365760" cy="365760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70432" y="14081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Problem, Actors &amp; Endpoints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52160" y="140817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OAuth exists; the four actors; tokens &amp; consent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084832"/>
            <a:ext cx="365760" cy="365760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70432" y="2011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Code + PKCE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852160" y="20116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user flow; front vs back channel; PKCE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2688336"/>
            <a:ext cx="365760" cy="365760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88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70432" y="261518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Credentials, Refresh &amp; Device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852160" y="261518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right flow for the app shape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291840"/>
            <a:ext cx="365760" cy="365760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70432" y="32186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Validation &amp; JWT Basics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852160" y="321868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Decoding ≠ validation; the checklist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3895344"/>
            <a:ext cx="365760" cy="365760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895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70432" y="382219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JWS, JWE, JWK / JWKS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852160" y="382219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vs encryption; publishing &amp; rotating keys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4498848"/>
            <a:ext cx="365760" cy="365760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498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70432" y="442569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Security Controls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852160" y="442569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Attacks mapped to mitigations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5102352"/>
            <a:ext cx="365760" cy="365760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102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70432" y="5029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Advanced: PAR, JAR, JARM, DPoP, mTLS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852160" y="50292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 request, response, token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0080" y="5705856"/>
            <a:ext cx="365760" cy="365760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70432" y="56327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FAPI 2.0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5852160" y="563270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Stricter OAuth for high-value APIs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8288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264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Problem, Actors &amp; Endpoints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lets a client get limited API access on a user's behalf — without ever receiving the password.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· WHAT OAUTH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framework, not a login or a token format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JWT/JOSE  ·  FAPI 2.0  —  Complete Workshop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349240" cy="3017520"/>
          </a:xfrm>
          <a:prstGeom prst="roundRect">
            <a:avLst>
              <a:gd name="adj" fmla="val 1818"/>
            </a:avLst>
          </a:prstGeom>
          <a:solidFill>
            <a:srgbClr val="E9F5F2"/>
          </a:solidFill>
          <a:ln w="12700">
            <a:solidFill>
              <a:srgbClr val="A9D8CF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810512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286000"/>
            <a:ext cx="494690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authorization framework (RFC 6749)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Limited, scoped access via tokens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to: what may this client access?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349240" cy="3017520"/>
          </a:xfrm>
          <a:prstGeom prst="roundRect">
            <a:avLst>
              <a:gd name="adj" fmla="val 1818"/>
            </a:avLst>
          </a:prstGeom>
          <a:solidFill>
            <a:srgbClr val="FBECEA"/>
          </a:solidFill>
          <a:ln w="12700">
            <a:solidFill>
              <a:srgbClr val="E6B6AC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10528" y="1810512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is NOT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10528" y="2286000"/>
            <a:ext cx="494690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sharing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endpoint or token format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login protocol (that's OpenID Connect)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secure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= the model · RFCs = the spec · Flows = ways to use it.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·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sharing is the wrong shape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JWT/JOSE  ·  FAPI 2.0  —  Complete Workshop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349240" cy="2834640"/>
          </a:xfrm>
          <a:prstGeom prst="roundRect">
            <a:avLst>
              <a:gd name="adj" fmla="val 1935"/>
            </a:avLst>
          </a:prstGeom>
          <a:solidFill>
            <a:srgbClr val="FBECEA"/>
          </a:solidFill>
          <a:ln w="12700">
            <a:solidFill>
              <a:srgbClr val="E6B6AC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810512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away the password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286000"/>
            <a:ext cx="4946904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everything you can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way to scope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Revoke = change your password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exposes the whole account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349240" cy="2834640"/>
          </a:xfrm>
          <a:prstGeom prst="roundRect">
            <a:avLst>
              <a:gd name="adj" fmla="val 1935"/>
            </a:avLst>
          </a:prstGeom>
          <a:solidFill>
            <a:srgbClr val="E9F5F2"/>
          </a:solidFill>
          <a:ln w="12700">
            <a:solidFill>
              <a:srgbClr val="A9D8CF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10528" y="1810512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 scoped token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10528" y="2286000"/>
            <a:ext cx="4946904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to what's needed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stays with the trusted service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Revoke just this app, anytime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Expires on its own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receives permission, not the user's password.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· THE CAST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actors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JWT/JOSE  ·  FAPI 2.0  —  Complete Workshop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349240" cy="1325880"/>
          </a:xfrm>
          <a:prstGeom prst="roundRect">
            <a:avLst>
              <a:gd name="adj" fmla="val 4138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810512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Owner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286000"/>
            <a:ext cx="4946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data — the user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349240" cy="1325880"/>
          </a:xfrm>
          <a:prstGeom prst="roundRect">
            <a:avLst>
              <a:gd name="adj" fmla="val 4138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19088" y="1810512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9088" y="2286000"/>
            <a:ext cx="4946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Wants access — the app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5349240" cy="1325880"/>
          </a:xfrm>
          <a:prstGeom prst="roundRect">
            <a:avLst>
              <a:gd name="adj" fmla="val 4138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3364992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Server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248" y="3840480"/>
            <a:ext cx="4946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Authenticates, gets consent, issues tokens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217920" y="3200400"/>
            <a:ext cx="5349240" cy="1325880"/>
          </a:xfrm>
          <a:prstGeom prst="roundRect">
            <a:avLst>
              <a:gd name="adj" fmla="val 4138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19088" y="3364992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Server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19088" y="3840480"/>
            <a:ext cx="4946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Hosts the API, validates tokens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008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who owns the data, who wants access, who grants it, who serves the API?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· ENDPOINTS &amp; CHANNELS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endpoints, two channels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JWT/JOSE  ·  FAPI 2.0  —  Complete Workshop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663440"/>
                <a:gridCol w="38404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/authorize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logs in &amp; approves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Front-channel (browser) — exposed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/token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Exchange a grant for a token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Back-channel (server) — protected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Front-channel vs back-channel is the idea behind every later control.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4206240"/>
            <a:ext cx="10881360" cy="1280160"/>
          </a:xfrm>
          <a:prstGeom prst="roundRect">
            <a:avLst>
              <a:gd name="adj" fmla="val 4286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41248" y="4370832"/>
            <a:ext cx="10479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access token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41248" y="4846320"/>
            <a:ext cx="10479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Permission, not a password · scoped · expiring · revocable · checked on every call.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· THE BOUNDARY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vs OpenID Connect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JWT/JOSE  ·  FAPI 2.0  —  Complete Workshop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434840"/>
                <a:gridCol w="44348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OAuth 2.0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OpenID Connect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Authorization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Authentication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can this client access?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 is the user?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token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 token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 token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 GitHub / Drive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“Log in with Google”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an API → OAuth. Know who you are → OpenID Connect.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8288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264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Code + PKCE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browser carries only a short-lived code; tokens come from the back-channel. PKCE protects the exchange.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· THE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Code, step by step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JWT/JOSE  ·  FAPI 2.0  —  Complete Workshop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65760" cy="365760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70432" y="149961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redirects the browser to /authorize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267712"/>
            <a:ext cx="365760" cy="365760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67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22128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logs in and approves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980944"/>
            <a:ext cx="365760" cy="365760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70432" y="2926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redirects back with code + state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3694176"/>
            <a:ext cx="365760" cy="365760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70432" y="363931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posts the code to /token (back-channel)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4407408"/>
            <a:ext cx="365760" cy="365760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407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70432" y="43525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receives the access token (+ refresh)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5120640"/>
            <a:ext cx="365760" cy="365760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120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506577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calls the API with the access token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· THE REQUEST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request parameters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JWT/JOSE  ·  FAPI 2.0  —  Complete Workshop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69494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response_type=code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Ask for an authorization code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client_id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Identify the client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redirect_uri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the browser returns (must match)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Permissions requested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Bind the callback to this client (CSRF)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code_challenge (S256)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PKCE hash for the code exchange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· WHY PKCE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stolen code should not be enough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JWT/JOSE  ·  FAPI 2.0  —  Complete Workshop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349240" cy="2834640"/>
          </a:xfrm>
          <a:prstGeom prst="roundRect">
            <a:avLst>
              <a:gd name="adj" fmla="val 1935"/>
            </a:avLst>
          </a:prstGeom>
          <a:solidFill>
            <a:srgbClr val="FBECEA"/>
          </a:solidFill>
          <a:ln w="12700">
            <a:solidFill>
              <a:srgbClr val="E6B6AC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810512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PKCE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286000"/>
            <a:ext cx="4946904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intercepts the code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it to /token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client → may get tokens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349240" cy="2834640"/>
          </a:xfrm>
          <a:prstGeom prst="roundRect">
            <a:avLst>
              <a:gd name="adj" fmla="val 1935"/>
            </a:avLst>
          </a:prstGeom>
          <a:solidFill>
            <a:srgbClr val="E9F5F2"/>
          </a:solidFill>
          <a:ln w="12700">
            <a:solidFill>
              <a:srgbClr val="A9D8CF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10528" y="1810512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PKCE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10528" y="2286000"/>
            <a:ext cx="4946904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sends code_challenge (a hash)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Proves it with code_verifier at /token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verifier → attack fails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70916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5F7FB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4855464"/>
            <a:ext cx="10479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code_challenge = BASE64URL( SHA256(code_verifier) )      // S256, one-way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· NOT INTERCHANGEABLE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vs redirect_uri vs PKCE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JWT/JOSE  ·  FAPI 2.0  —  Complete Workshop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291840"/>
                <a:gridCol w="44805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Checked by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Protects against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Callbacks the client didn't start (CSRF)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redirect_uri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Authorization server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Binds the code to the original target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code_verifier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 endpoint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Proves the redeemer started the flow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3749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problems — a modern browser flow uses all three.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8288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264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Credentials, Refresh &amp; Device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is not one flow — different trust situations need different flows.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 · PICK BY SITUATION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more flows, three problems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JWT/JOSE  ·  FAPI 2.0  —  Complete Workshop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810512"/>
            <a:ext cx="10479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Credentials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286000"/>
            <a:ext cx="10479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Machine-to-machine. No user, no browser. The token represents the service.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1248" y="3044952"/>
            <a:ext cx="10479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Token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3520440"/>
            <a:ext cx="10479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 a short-lived access token without sending the user through the flow again.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4279392"/>
            <a:ext cx="10479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Authorization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248" y="4754880"/>
            <a:ext cx="10479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/ TV: the user approves on a second device while the client polls.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 · REFRESH TOKENS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 makes reuse detectable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JWT/JOSE  ·  FAPI 2.0  —  Complete Workshop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6868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gets access token AT1 + refresh token RT1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Refresh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AT1 expires; client sends RT1 to /token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Rotate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 returns AT2 + RT2, marks RT1 used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Reuse seen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RT1 appears again → theft; revoke the family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access token opens the door once; a refresh token keeps making keys.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 · CHEAT SHEET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JWT/JOSE  ·  FAPI 2.0  —  Complete Workshop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97280"/>
                <a:gridCol w="1371600"/>
                <a:gridCol w="36576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Redirect?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use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Today?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 Code + PKCE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Web, SPA, mobile with a user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Credentials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Service-to-service APIs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Refresh Token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Sometimes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Renew an access token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 controls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Device Authorization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 / TV / limited input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needed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Implicit / Password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8288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264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Validation &amp; JWT Basics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JWT is only a format. Security comes from validation — decoding is not validation.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 · THE FORMAT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JWT: header . payload . signature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JWT/JOSE  ·  FAPI 2.0  —  Complete Workshop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F5F7FB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73736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8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decoded payload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" y="2029968"/>
            <a:ext cx="508406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"iss": "https://auth.example.com",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"sub": "user_123",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"aud": "https://api.example.com",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"exp": 1760000000,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"scope": "repo.read repo.write"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120640" cy="3200400"/>
          </a:xfrm>
          <a:prstGeom prst="roundRect">
            <a:avLst>
              <a:gd name="adj" fmla="val 1714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01968" y="1810512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that drive validation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01968" y="2286000"/>
            <a:ext cx="471830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 — trust this issuer?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 — meant for this API?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 / nbf — valid right now?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— enough permission?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signed JWT is only base64url-encoded — anyone holding it can read the payload.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 · DECODING ≠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resource server must check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JWT/JOSE  ·  FAPI 2.0  —  Complete Workshop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349240" cy="3200400"/>
          </a:xfrm>
          <a:prstGeom prst="roundRect">
            <a:avLst>
              <a:gd name="adj" fmla="val 1714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810512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checklist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286000"/>
            <a:ext cx="494690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verifies with a trusted key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 expected; kid is trusted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 trusted · aud is this API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 / nbf valid in time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sufficient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349240" cy="3200400"/>
          </a:xfrm>
          <a:prstGeom prst="roundRect">
            <a:avLst>
              <a:gd name="adj" fmla="val 1714"/>
            </a:avLst>
          </a:prstGeom>
          <a:solidFill>
            <a:srgbClr val="E9F5F2"/>
          </a:solidFill>
          <a:ln w="12700">
            <a:solidFill>
              <a:srgbClr val="A9D8CF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10528" y="1810512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for the right reason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10528" y="2286000"/>
            <a:ext cx="494690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401 — missing / expired / bad token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403 — valid token, not enough scope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Opaque (non-JWT) token → introspect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8288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264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JWS, JWE, JWK / JWKS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JWS signs, JWE encrypts, JWK/JWKS publish the keys. Signed does not mean private.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 · THE JOSE FAMILY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pieces that fit together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JWT/JOSE  ·  FAPI 2.0  —  Complete Workshop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869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JWT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Compact claims format (the container)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JWS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Signature — integrity / authenticity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JWE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Encryption — confidentiality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JWK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 representation of one key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JWKS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published set of keys (selected by kid)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JWS proves the content wasn't modified. JWE hides the content.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 · KEYS &amp; ROTATION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verifier gets the key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JWT/JOSE  ·  FAPI 2.0  —  Complete Workshop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349240" cy="3108960"/>
          </a:xfrm>
          <a:prstGeom prst="roundRect">
            <a:avLst>
              <a:gd name="adj" fmla="val 1765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810512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verification works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286000"/>
            <a:ext cx="494690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signs with its private key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publishes the public key in JWKS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fetches JWKS from a trusted uri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Selects by kid, then verifies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349240" cy="3108960"/>
          </a:xfrm>
          <a:prstGeom prst="roundRect">
            <a:avLst>
              <a:gd name="adj" fmla="val 1765"/>
            </a:avLst>
          </a:prstGeom>
          <a:solidFill>
            <a:srgbClr val="FBECEA"/>
          </a:solidFill>
          <a:ln w="12700">
            <a:solidFill>
              <a:srgbClr val="E6B6AC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10528" y="1810512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alg / kid mistakes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10528" y="2286000"/>
            <a:ext cx="494690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Accepting alg=none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Trusting the token's algorithm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from a token-controlled URL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Dropping an old key too early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Allowed algorithms and key sources come from configuration — never the token.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8288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264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Security Controls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common attacks to the controls that stop them.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 · LEGACY FLOWS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Implicit and Password grant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JWT/JOSE  ·  FAPI 2.0  —  Complete Workshop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349240" cy="2834640"/>
          </a:xfrm>
          <a:prstGeom prst="roundRect">
            <a:avLst>
              <a:gd name="adj" fmla="val 1935"/>
            </a:avLst>
          </a:prstGeom>
          <a:solidFill>
            <a:srgbClr val="FBECEA"/>
          </a:solidFill>
          <a:ln w="12700">
            <a:solidFill>
              <a:srgbClr val="E6B6AC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810512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Implicit flow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286000"/>
            <a:ext cx="4946904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returned in the browser redirect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Front-channel exposure (history, logs)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Replaced by Auth Code + PKCE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349240" cy="2834640"/>
          </a:xfrm>
          <a:prstGeom prst="roundRect">
            <a:avLst>
              <a:gd name="adj" fmla="val 1935"/>
            </a:avLst>
          </a:prstGeom>
          <a:solidFill>
            <a:srgbClr val="FBECEA"/>
          </a:solidFill>
          <a:ln w="12700">
            <a:solidFill>
              <a:srgbClr val="E6B6AC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10528" y="1810512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credentials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10528" y="2286000"/>
            <a:ext cx="4946904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collects the user's real password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Breaks the core OAuth idea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MFA; a breach exposes creds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Code + PKCE for users · Client Credentials for services.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 · THREAT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Attacks mapped to mitigations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JWT/JOSE  ·  FAPI 2.0  —  Complete Workshop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76072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Attack / mistake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state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Generate, store, and verify state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 redirect URI matching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Exact, pre-registered redirect URIs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Authorization code interception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PKCE + short-lived single-use codes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Long-lived / stolen access token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 token lifetime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Refresh token theft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Rotation + reuse detection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Bearer token replay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Sender-constrained tokens (DPoP / mTLS)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8288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264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40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Advanced: PAR, JAR, JARM, DPoP, mTLS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 the request, the response, and proof of token possession.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 · REQUEST &amp; RESPONSE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PAR, JAR, JARM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JWT/JOSE  ·  FAPI 2.0  —  Complete Workshop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486400"/>
                <a:gridCol w="38404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Push request details to a back-channel endpoint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Request exposure in the browser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 the authorization request (a JWT)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Request-parameter integrity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JARM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 the authorization response (a JWT)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Response integrity, mix-up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3749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pushes the request · JAR signs the request · JARM signs the response.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 · STOP TOKEN REPLAY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DPoP vs mTLS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JWT/JOSE  ·  FAPI 2.0  —  Complete Workshop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349240" cy="3017520"/>
          </a:xfrm>
          <a:prstGeom prst="roundRect">
            <a:avLst>
              <a:gd name="adj" fmla="val 1818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810512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DPoP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286000"/>
            <a:ext cx="494690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App-layer signed proof per request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bound to a public key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public clients &amp; APIs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349240" cy="3017520"/>
          </a:xfrm>
          <a:prstGeom prst="roundRect">
            <a:avLst>
              <a:gd name="adj" fmla="val 1818"/>
            </a:avLst>
          </a:prstGeom>
          <a:solidFill>
            <a:srgbClr val="E9F5F2"/>
          </a:solidFill>
          <a:ln w="12700">
            <a:solidFill>
              <a:srgbClr val="A9D8CF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10528" y="1810512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10528" y="2286000"/>
            <a:ext cx="494690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TLS-layer client certificate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Certificate-bound access tokens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confidential / high-security clients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sender-constrain the token: a stolen bearer token alone is not enough.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8288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264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40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FAPI 2.0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high-security profile — stricter OAuth for high-value APIs, not a replacement protocol.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8 · WHAT FAPI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Stricter OAuth, combined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JWT/JOSE  ·  FAPI 2.0  —  Complete Workshop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349240" cy="3108960"/>
          </a:xfrm>
          <a:prstGeom prst="roundRect">
            <a:avLst>
              <a:gd name="adj" fmla="val 1765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810512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FAPI 2.0 combines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286000"/>
            <a:ext cx="494690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OAuth configuration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+ sender-constrained tokens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client authentication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token validation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349240" cy="3108960"/>
          </a:xfrm>
          <a:prstGeom prst="roundRect">
            <a:avLst>
              <a:gd name="adj" fmla="val 1765"/>
            </a:avLst>
          </a:prstGeom>
          <a:solidFill>
            <a:srgbClr val="E9F5F2"/>
          </a:solidFill>
          <a:ln w="12700">
            <a:solidFill>
              <a:srgbClr val="A9D8CF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10528" y="1810512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it's used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10528" y="2286000"/>
            <a:ext cx="494690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banking &amp; payments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&amp; sensitive identity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Regulated, high-impact APIs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OAuth gives options; FAPI chooses the strict ones.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8 · CONTROLS → ATTACKS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FAPI controls mapped to risk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JWT/JOSE  ·  FAPI 2.0  —  Complete Workshop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539496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FAPI-oriented control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Authorization request tampering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 + signed request objects (JAR)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Bearer token replay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Sender-constrained tokens (DPoP / mTLS)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 client authentication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Private-key or certificate-based auth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 accepted by the wrong API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Strict audience validation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 / consent dispute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Message signing + audit evidence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TEACH THIS WHEN…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teach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3657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Auth Code + PKCE and Client Credentials from memory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code vs access vs refresh vs ID token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4663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the JWT validation checks (decoding isn't validation)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5166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attacks to controls: PKCE, state, redirect, DPoP/mTLS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FAPI as strict OAuth for high-value APIs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OAuth 2.0, JWT/JOSE &amp; FAPI 2.0 — Complete Workshop</dc:title>
  <dc:subject>PptxGenJS Presentation</dc:subject>
  <dc:creator>OAuth/JWT/FAPI Workshop</dc:creator>
  <cp:lastModifiedBy>OAuth/JWT/FAPI Workshop</cp:lastModifiedBy>
  <cp:revision>1</cp:revision>
  <dcterms:created xsi:type="dcterms:W3CDTF">2026-07-22T20:43:50Z</dcterms:created>
  <dcterms:modified xsi:type="dcterms:W3CDTF">2026-07-22T20:43:50Z</dcterms:modified>
</cp:coreProperties>
</file>