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554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7FD9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WORKSHOP · LESSONS 1–8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881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 2.0, JWT/JOSE &amp; FAPI 2.0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36118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CE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core mental model to high-security FAPI — one connected story.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457200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16304E"/>
          </a:solidFill>
          <a:ln w="12700">
            <a:solidFill>
              <a:srgbClr val="3251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457200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FE9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874520" y="4572000"/>
            <a:ext cx="1170432" cy="384048"/>
          </a:xfrm>
          <a:prstGeom prst="roundRect">
            <a:avLst>
              <a:gd name="adj" fmla="val 50000"/>
            </a:avLst>
          </a:prstGeom>
          <a:solidFill>
            <a:srgbClr val="16304E"/>
          </a:solidFill>
          <a:ln w="12700">
            <a:solidFill>
              <a:srgbClr val="3251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74520" y="4572000"/>
            <a:ext cx="1170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FE9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27832" y="457200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16304E"/>
          </a:solidFill>
          <a:ln w="12700">
            <a:solidFill>
              <a:srgbClr val="3251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27832" y="457200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FE9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 / JOSE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56632" y="4572000"/>
            <a:ext cx="2478024" cy="384048"/>
          </a:xfrm>
          <a:prstGeom prst="roundRect">
            <a:avLst>
              <a:gd name="adj" fmla="val 50000"/>
            </a:avLst>
          </a:prstGeom>
          <a:solidFill>
            <a:srgbClr val="16304E"/>
          </a:solidFill>
          <a:ln w="12700">
            <a:solidFill>
              <a:srgbClr val="3251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56632" y="4572000"/>
            <a:ext cx="2478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FE9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controls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717536" y="4572000"/>
            <a:ext cx="1408176" cy="384048"/>
          </a:xfrm>
          <a:prstGeom prst="roundRect">
            <a:avLst>
              <a:gd name="adj" fmla="val 50000"/>
            </a:avLst>
          </a:prstGeom>
          <a:solidFill>
            <a:srgbClr val="16304E"/>
          </a:solidFill>
          <a:ln w="12700">
            <a:solidFill>
              <a:srgbClr val="3251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17536" y="4572000"/>
            <a:ext cx="1408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FE9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FAPI 2.0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lessons, one mental model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 2.0  ·  JWT/JOSE  ·  FAPI 2.0  —  Complete Workshop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481328"/>
            <a:ext cx="365760" cy="365760"/>
          </a:xfrm>
          <a:prstGeom prst="ellipse">
            <a:avLst/>
          </a:prstGeom>
          <a:solidFill>
            <a:srgbClr val="0F8A7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481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70432" y="1408176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 Problem, Actors &amp; Endpoints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852160" y="1408176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OAuth exists; the four actors; tokens, scopes, consent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2084832"/>
            <a:ext cx="365760" cy="365760"/>
          </a:xfrm>
          <a:prstGeom prst="ellipse">
            <a:avLst/>
          </a:prstGeom>
          <a:solidFill>
            <a:srgbClr val="0F8A7E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0848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70432" y="20116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Authorization Code + PKCE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852160" y="201168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main user flow; front vs back channel; PKCE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2688336"/>
            <a:ext cx="365760" cy="365760"/>
          </a:xfrm>
          <a:prstGeom prst="ellipse">
            <a:avLst/>
          </a:prstGeom>
          <a:solidFill>
            <a:srgbClr val="0F8A7E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688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70432" y="2615184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Credentials, Refresh &amp; Device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852160" y="2615184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the right flow for the application shape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3291840"/>
            <a:ext cx="365760" cy="365760"/>
          </a:xfrm>
          <a:prstGeom prst="ellipse">
            <a:avLst/>
          </a:prstGeom>
          <a:solidFill>
            <a:srgbClr val="0F8A7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70432" y="321868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Validation &amp; JWT Basics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852160" y="3218688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Claims, decoding ≠ validation, the validation checklist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40080" y="3895344"/>
            <a:ext cx="365760" cy="365760"/>
          </a:xfrm>
          <a:prstGeom prst="ellipse">
            <a:avLst/>
          </a:prstGeom>
          <a:solidFill>
            <a:srgbClr val="0F8A7E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3895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170432" y="3822192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JWS, JWE, JWK / JWKS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5852160" y="3822192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Signing vs encryption; publishing and rotating keys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4498848"/>
            <a:ext cx="365760" cy="365760"/>
          </a:xfrm>
          <a:prstGeom prst="ellipse">
            <a:avLst/>
          </a:prstGeom>
          <a:solidFill>
            <a:srgbClr val="0F8A7E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44988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170432" y="4425696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 Security Controls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5852160" y="4425696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Deprecated flows; attacks mapped to mitigations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0080" y="5102352"/>
            <a:ext cx="365760" cy="365760"/>
          </a:xfrm>
          <a:prstGeom prst="ellipse">
            <a:avLst/>
          </a:prstGeom>
          <a:solidFill>
            <a:srgbClr val="0F8A7E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5102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170432" y="50292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Advanced: PAR, JAR, JARM, DPoP, mTLS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5852160" y="502920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Harden requests, responses, and token possession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40080" y="5705856"/>
            <a:ext cx="365760" cy="365760"/>
          </a:xfrm>
          <a:prstGeom prst="ellipse">
            <a:avLst/>
          </a:prstGeom>
          <a:solidFill>
            <a:srgbClr val="0F8A7E"/>
          </a:solidFill>
          <a:ln/>
        </p:spPr>
      </p:sp>
      <p:sp>
        <p:nvSpPr>
          <p:cNvPr id="35" name="Text 33"/>
          <p:cNvSpPr/>
          <p:nvPr/>
        </p:nvSpPr>
        <p:spPr>
          <a:xfrm>
            <a:off x="640080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170432" y="5632704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FAPI 2.0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5852160" y="5632704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Stricter OAuth for high-value APIs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55280" y="182880"/>
            <a:ext cx="40233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0" b="1" dirty="0">
                <a:solidFill>
                  <a:srgbClr val="2645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4000" dirty="0"/>
          </a:p>
        </p:txBody>
      </p:sp>
      <p:sp>
        <p:nvSpPr>
          <p:cNvPr id="3" name="Text 1"/>
          <p:cNvSpPr/>
          <p:nvPr/>
        </p:nvSpPr>
        <p:spPr>
          <a:xfrm>
            <a:off x="640080" y="2331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7FD9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2697480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 Problem, Actors &amp; Endpoints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640080" y="41605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CE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 lets a client get limited API access on a user's behalf — without ever receiving the password.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1 · WHAT OAUTH 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framework, not a login or a token format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 2.0  ·  JWT/JOSE  ·  FAPI 2.0  —  Complete Workshop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5349240" cy="3291840"/>
          </a:xfrm>
          <a:prstGeom prst="roundRect">
            <a:avLst>
              <a:gd name="adj" fmla="val 1667"/>
            </a:avLst>
          </a:prstGeom>
          <a:solidFill>
            <a:srgbClr val="E9F5F2"/>
          </a:solidFill>
          <a:ln w="12700">
            <a:solidFill>
              <a:srgbClr val="A9D8CF"/>
            </a:solidFill>
            <a:prstDash val="solid"/>
          </a:ln>
          <a:effectLst>
            <a:outerShdw sx="100000" sy="100000" kx="0" ky="0" algn="bl" rotWithShape="0" blurRad="88900" dist="38100" dir="8100000">
              <a:srgbClr val="1F3A5F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700784"/>
            <a:ext cx="4983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8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 2.0 IS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121408"/>
            <a:ext cx="498348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authorization framework (RFC 6749)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way to get limited, scoped access via tokens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Answering: what may this client access?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1554480"/>
            <a:ext cx="5349240" cy="3291840"/>
          </a:xfrm>
          <a:prstGeom prst="roundRect">
            <a:avLst>
              <a:gd name="adj" fmla="val 1667"/>
            </a:avLst>
          </a:prstGeom>
          <a:solidFill>
            <a:srgbClr val="FBECEA"/>
          </a:solidFill>
          <a:ln w="12700">
            <a:solidFill>
              <a:srgbClr val="E6B6AC"/>
            </a:solidFill>
            <a:prstDash val="solid"/>
          </a:ln>
          <a:effectLst>
            <a:outerShdw sx="100000" sy="100000" kx="0" ky="0" algn="bl" rotWithShape="0" blurRad="88900" dist="38100" dir="8100000">
              <a:srgbClr val="1F3A5F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1700784"/>
            <a:ext cx="4983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49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 2.0 is NOT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92240" y="2121408"/>
            <a:ext cx="498348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 sharing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endpoint or token format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complete login protocol (that's OpenID Connect)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Automatically secure — implementation matters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50749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= the model · RFCs = the spec · Flows = ways to use it.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1 · 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 sharing is the wrong shape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 2.0  ·  JWT/JOSE  ·  FAPI 2.0  —  Complete Workshop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5349240" cy="3017520"/>
          </a:xfrm>
          <a:prstGeom prst="roundRect">
            <a:avLst>
              <a:gd name="adj" fmla="val 1818"/>
            </a:avLst>
          </a:prstGeom>
          <a:solidFill>
            <a:srgbClr val="FBECEA"/>
          </a:solidFill>
          <a:ln w="12700">
            <a:solidFill>
              <a:srgbClr val="E6B6AC"/>
            </a:solidFill>
            <a:prstDash val="solid"/>
          </a:ln>
          <a:effectLst>
            <a:outerShdw sx="100000" sy="100000" kx="0" ky="0" algn="bl" rotWithShape="0" blurRad="88900" dist="38100" dir="8100000">
              <a:srgbClr val="1F3A5F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700784"/>
            <a:ext cx="4983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49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away the password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121408"/>
            <a:ext cx="4983480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can do everything you can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way to scope to one resource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Revoking means changing the password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breach exposes the whole account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1554480"/>
            <a:ext cx="5349240" cy="3017520"/>
          </a:xfrm>
          <a:prstGeom prst="roundRect">
            <a:avLst>
              <a:gd name="adj" fmla="val 1818"/>
            </a:avLst>
          </a:prstGeom>
          <a:solidFill>
            <a:srgbClr val="E9F5F2"/>
          </a:solidFill>
          <a:ln w="12700">
            <a:solidFill>
              <a:srgbClr val="A9D8CF"/>
            </a:solidFill>
            <a:prstDash val="solid"/>
          </a:ln>
          <a:effectLst>
            <a:outerShdw sx="100000" sy="100000" kx="0" ky="0" algn="bl" rotWithShape="0" blurRad="88900" dist="38100" dir="8100000">
              <a:srgbClr val="1F3A5F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1700784"/>
            <a:ext cx="4983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8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a scoped token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92240" y="2121408"/>
            <a:ext cx="4983480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 to exactly what's needed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 never leaves the trusted service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Revoke just this app, anytime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expires on its own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4846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client receives permission, not the user's password.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1 · THE CAST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four actors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 2.0  ·  JWT/JOSE  ·  FAPI 2.0  —  Complete Workshop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645920"/>
            <a:ext cx="5349240" cy="137160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D8DEEA"/>
            </a:solidFill>
            <a:prstDash val="solid"/>
          </a:ln>
          <a:effectLst>
            <a:outerShdw sx="100000" sy="100000" kx="0" ky="0" algn="bl" rotWithShape="0" blurRad="88900" dist="38100" dir="8100000">
              <a:srgbClr val="1F3A5F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792224"/>
            <a:ext cx="4983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 Owner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212848"/>
            <a:ext cx="4983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Owns the data — the user (e.g. you on GitHub)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645920"/>
            <a:ext cx="5349240" cy="137160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D8DEEA"/>
            </a:solidFill>
            <a:prstDash val="solid"/>
          </a:ln>
          <a:effectLst>
            <a:outerShdw sx="100000" sy="100000" kx="0" ky="0" algn="bl" rotWithShape="0" blurRad="88900" dist="38100" dir="8100000">
              <a:srgbClr val="1F3A5F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0" y="1792224"/>
            <a:ext cx="4983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0" y="2212848"/>
            <a:ext cx="4983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Wants access — the app (e.g. a deployment dashboard)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200400"/>
            <a:ext cx="5349240" cy="137160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D8DEEA"/>
            </a:solidFill>
            <a:prstDash val="solid"/>
          </a:ln>
          <a:effectLst>
            <a:outerShdw sx="100000" sy="100000" kx="0" ky="0" algn="bl" rotWithShape="0" blurRad="88900" dist="38100" dir="8100000">
              <a:srgbClr val="1F3A5F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2960" y="3346704"/>
            <a:ext cx="4983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Authorization Server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" y="3767328"/>
            <a:ext cx="4983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Authenticates the user, gets consent, issues tokens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17920" y="3200400"/>
            <a:ext cx="5349240" cy="137160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D8DEEA"/>
            </a:solidFill>
            <a:prstDash val="solid"/>
          </a:ln>
          <a:effectLst>
            <a:outerShdw sx="100000" sy="100000" kx="0" ky="0" algn="bl" rotWithShape="0" blurRad="88900" dist="38100" dir="8100000">
              <a:srgbClr val="1F3A5F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00800" y="3346704"/>
            <a:ext cx="4983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 Server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0" y="3767328"/>
            <a:ext cx="4983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Hosts the API and validates access tokens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4937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A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 them by asking: who owns the data, who wants access, who grants it, who serves the API?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1 · ENDPOINTS &amp; CHANNELS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endpoints, two channels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 2.0  ·  JWT/JOSE  ·  FAPI 2.0  —  Complete Workshop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45920"/>
          <a:ext cx="10881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663440"/>
                <a:gridCol w="38404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Endpoint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Job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/authorize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 logs in &amp; approves access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Front-channel (browser) — more exposed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/token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Exchange a grant for an access token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Back-channel (server-to-server) — protected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3566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Front-channel vs back-channel is the idea behind every later security control.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4114800"/>
            <a:ext cx="10881360" cy="137160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D8DEEA"/>
            </a:solidFill>
            <a:prstDash val="solid"/>
          </a:ln>
          <a:effectLst>
            <a:outerShdw sx="100000" sy="100000" kx="0" ky="0" algn="bl" rotWithShape="0" blurRad="88900" dist="38100" dir="8100000">
              <a:srgbClr val="1F3A5F">
                <a:alpha val="13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22960" y="426110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Also: the access token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4681728"/>
            <a:ext cx="10515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Represents permission, not the user's password · scoped, expiring, revocable · checked by the resource server on every call.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1 · THE BOUNDARY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 vs OpenID Connect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 2.0  ·  JWT/JOSE  ·  FAPI 2.0  —  Complete Workshop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45920"/>
          <a:ext cx="108813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434840"/>
                <a:gridCol w="44348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OAuth 2.0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OpenID Connect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Purpose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Authorization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Authentication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Question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can this client access?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 is the user?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 token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Access token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 token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Example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Connect GitHub repos / Drive files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“Log in with Google”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4846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Wants to call an API → OAuth. Wants to know who you are → OpenID Connect.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55280" y="182880"/>
            <a:ext cx="40233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0" b="1" dirty="0">
                <a:solidFill>
                  <a:srgbClr val="2645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4000" dirty="0"/>
          </a:p>
        </p:txBody>
      </p:sp>
      <p:sp>
        <p:nvSpPr>
          <p:cNvPr id="3" name="Text 1"/>
          <p:cNvSpPr/>
          <p:nvPr/>
        </p:nvSpPr>
        <p:spPr>
          <a:xfrm>
            <a:off x="640080" y="2331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7FD9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2697480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Authorization Code + PKCE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640080" y="41605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CE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browser carries only a short-lived code; tokens come from the back-channel. PKCE protects the exchange.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2 · THE FLOW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Authorization Code, step by step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 2.0  ·  JWT/JOSE  ·  FAPI 2.0  —  Complete Workshop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365760" cy="365760"/>
          </a:xfrm>
          <a:prstGeom prst="ellipse">
            <a:avLst/>
          </a:prstGeom>
          <a:solidFill>
            <a:srgbClr val="0F8A7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554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70432" y="149961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redirects the browser to /authorize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2267712"/>
            <a:ext cx="365760" cy="365760"/>
          </a:xfrm>
          <a:prstGeom prst="ellipse">
            <a:avLst/>
          </a:prstGeom>
          <a:solidFill>
            <a:srgbClr val="0F8A7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70432" y="22128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logs in and approves at the authorization server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2980944"/>
            <a:ext cx="365760" cy="365760"/>
          </a:xfrm>
          <a:prstGeom prst="ellipse">
            <a:avLst/>
          </a:prstGeom>
          <a:solidFill>
            <a:srgbClr val="0F8A7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809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70432" y="292608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redirects back with a short-lived code + state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3694176"/>
            <a:ext cx="365760" cy="365760"/>
          </a:xfrm>
          <a:prstGeom prst="ellipse">
            <a:avLst/>
          </a:prstGeom>
          <a:solidFill>
            <a:srgbClr val="0F8A7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6941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70432" y="36393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posts the code to /token (back-channel)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365760" cy="365760"/>
          </a:xfrm>
          <a:prstGeom prst="ellipse">
            <a:avLst/>
          </a:prstGeom>
          <a:solidFill>
            <a:srgbClr val="0F8A7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70432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receives the access token (+ refresh token)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40080" y="5120640"/>
            <a:ext cx="365760" cy="365760"/>
          </a:xfrm>
          <a:prstGeom prst="ellipse">
            <a:avLst/>
          </a:prstGeom>
          <a:solidFill>
            <a:srgbClr val="0F8A7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5120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170432" y="506577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calls the API with the access token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2 · THE REQUEST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Authorization request parameters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 2.0  ·  JWT/JOSE  ·  FAPI 2.0  —  Complete Workshop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88136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694944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Parameter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Purpose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response_type=code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Ask for an authorization code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client_id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Identify the client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redirect_uri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Where the browser returns (must match registration)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scope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Permissions requested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Bind the callback to a request the client started (CSRF)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code_challenge (+ _method=S256)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PKCE challenge for the code exchange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2 · WHY PKCE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stolen code should not be enough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 2.0  ·  JWT/JOSE  ·  FAPI 2.0  —  Complete Workshop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5349240" cy="3108960"/>
          </a:xfrm>
          <a:prstGeom prst="roundRect">
            <a:avLst>
              <a:gd name="adj" fmla="val 1765"/>
            </a:avLst>
          </a:prstGeom>
          <a:solidFill>
            <a:srgbClr val="FBECEA"/>
          </a:solidFill>
          <a:ln w="12700">
            <a:solidFill>
              <a:srgbClr val="E6B6AC"/>
            </a:solidFill>
            <a:prstDash val="solid"/>
          </a:ln>
          <a:effectLst>
            <a:outerShdw sx="100000" sy="100000" kx="0" ky="0" algn="bl" rotWithShape="0" blurRad="88900" dist="38100" dir="8100000">
              <a:srgbClr val="1F3A5F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700784"/>
            <a:ext cx="4983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49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PKCE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121408"/>
            <a:ext cx="4983480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Attacker intercepts the authorization code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Sends it to /token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client is public, may get tokens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1554480"/>
            <a:ext cx="5349240" cy="3108960"/>
          </a:xfrm>
          <a:prstGeom prst="roundRect">
            <a:avLst>
              <a:gd name="adj" fmla="val 1765"/>
            </a:avLst>
          </a:prstGeom>
          <a:solidFill>
            <a:srgbClr val="E9F5F2"/>
          </a:solidFill>
          <a:ln w="12700">
            <a:solidFill>
              <a:srgbClr val="A9D8CF"/>
            </a:solidFill>
            <a:prstDash val="solid"/>
          </a:ln>
          <a:effectLst>
            <a:outerShdw sx="100000" sy="100000" kx="0" ky="0" algn="bl" rotWithShape="0" blurRad="88900" dist="38100" dir="8100000">
              <a:srgbClr val="1F3A5F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1700784"/>
            <a:ext cx="4983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8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PKCE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92240" y="2121408"/>
            <a:ext cx="4983480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first sends code_challenge (a hash)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Later proves it with the code_verifier at /token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Attacker has the code but not the verifier → fails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800600"/>
            <a:ext cx="10881360" cy="822960"/>
          </a:xfrm>
          <a:prstGeom prst="roundRect">
            <a:avLst>
              <a:gd name="adj" fmla="val 6667"/>
            </a:avLst>
          </a:prstGeom>
          <a:solidFill>
            <a:srgbClr val="F5F7FB"/>
          </a:solidFill>
          <a:ln w="12700">
            <a:solidFill>
              <a:srgbClr val="D8DEEA"/>
            </a:solidFill>
            <a:prstDash val="solid"/>
          </a:ln>
          <a:effectLst>
            <a:outerShdw sx="100000" sy="100000" kx="0" ky="0" algn="bl" rotWithShape="0" blurRad="88900" dist="38100" dir="8100000">
              <a:srgbClr val="1F3A5F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1248" y="4946904"/>
            <a:ext cx="10479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D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code_challenge = BASE64URL( SHA256(code_verifier) )      // S256, one-way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2 · NOT INTERCHANGEABLE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vs redirect_uri vs PKCE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 2.0  ·  JWT/JOSE  ·  FAPI 2.0  —  Complete Workshop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45920"/>
          <a:ext cx="1088136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291840"/>
                <a:gridCol w="448056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Checked by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Protects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Callbacks the client did not start (CSRF)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redirect_uri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Authorization server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Binds the code to the original request target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code_verifier / challenge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 endpoint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Proves the redeemer knows the original secret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3657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solve different problems — a modern browser flow uses all three.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55280" y="182880"/>
            <a:ext cx="40233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0" b="1" dirty="0">
                <a:solidFill>
                  <a:srgbClr val="2645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4000" dirty="0"/>
          </a:p>
        </p:txBody>
      </p:sp>
      <p:sp>
        <p:nvSpPr>
          <p:cNvPr id="3" name="Text 1"/>
          <p:cNvSpPr/>
          <p:nvPr/>
        </p:nvSpPr>
        <p:spPr>
          <a:xfrm>
            <a:off x="640080" y="2331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7FD9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2697480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Credentials, Refresh &amp; Device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640080" y="41605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CE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 is not one flow — different trust situations need different flows.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3 · PICK BY SITUATION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more flows, three problems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 2.0  ·  JWT/JOSE  ·  FAPI 2.0  —  Complete Workshop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EEF3F8"/>
          </a:solidFill>
          <a:ln w="12700">
            <a:solidFill>
              <a:srgbClr val="D8DEEA"/>
            </a:solidFill>
            <a:prstDash val="solid"/>
          </a:ln>
          <a:effectLst>
            <a:outerShdw sx="100000" sy="100000" kx="0" ky="0" algn="bl" rotWithShape="0" blurRad="88900" dist="38100" dir="8100000">
              <a:srgbClr val="1F3A5F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7007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Credentials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121408"/>
            <a:ext cx="10515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Machine-to-machine — no user, no browser, no consent. Token represents the service.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78892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EEF3F8"/>
          </a:solidFill>
          <a:ln w="12700">
            <a:solidFill>
              <a:srgbClr val="D8DEEA"/>
            </a:solidFill>
            <a:prstDash val="solid"/>
          </a:ln>
          <a:effectLst>
            <a:outerShdw sx="100000" sy="100000" kx="0" ky="0" algn="bl" rotWithShape="0" blurRad="88900" dist="38100" dir="8100000">
              <a:srgbClr val="1F3A5F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2960" y="293522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Refresh Token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3355848"/>
            <a:ext cx="10515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Renew a short-lived access token without sending the user through the flow again.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02336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EEF3F8"/>
          </a:solidFill>
          <a:ln w="12700">
            <a:solidFill>
              <a:srgbClr val="D8DEEA"/>
            </a:solidFill>
            <a:prstDash val="solid"/>
          </a:ln>
          <a:effectLst>
            <a:outerShdw sx="100000" sy="100000" kx="0" ky="0" algn="bl" rotWithShape="0" blurRad="88900" dist="38100" dir="8100000">
              <a:srgbClr val="1F3A5F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2960" y="416966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 Authorization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" y="4590288"/>
            <a:ext cx="10515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Limited-input devices (CLI, TV): user approves on a second device while the client polls.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3 · REFRESH TOKENS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Rotation makes reuse detectable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 2.0  ·  JWT/JOSE  ·  FAPI 2.0  —  Complete Workshop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8813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6868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happens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Issue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gets access token AT1 + refresh token RT1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Refresh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AT1 expires; client sends RT1 to /token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Server returns AT2 + RT2, marks RT1 used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Reuse seen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If RT1 appears again → treat as theft, revoke the family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45720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access token opens the door once; a refresh token can keep making new keys — store it well.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3 · CHEAT SHEET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the flow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 2.0  ·  JWT/JOSE  ·  FAPI 2.0  —  Complete Workshop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88136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097280"/>
                <a:gridCol w="1371600"/>
                <a:gridCol w="3657600"/>
                <a:gridCol w="18288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Flow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User?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Redirect?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 use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Today?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Auth Code + PKCE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Web, SPA, mobile with a user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Recommended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Credentials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Service-to-service APIs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Recommended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Refresh Token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Sometimes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Renew an access token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Recommended w/ controls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Device Authorization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 / TV / limited input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When appropriate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Implicit / Password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Legacy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Avoid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55280" y="182880"/>
            <a:ext cx="40233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0" b="1" dirty="0">
                <a:solidFill>
                  <a:srgbClr val="2645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4000" dirty="0"/>
          </a:p>
        </p:txBody>
      </p:sp>
      <p:sp>
        <p:nvSpPr>
          <p:cNvPr id="3" name="Text 1"/>
          <p:cNvSpPr/>
          <p:nvPr/>
        </p:nvSpPr>
        <p:spPr>
          <a:xfrm>
            <a:off x="640080" y="2331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7FD9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2697480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Validation &amp; JWT Basics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640080" y="41605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CE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JWT is only a format. Security comes from validation — decoding is not validation.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4 · THE FORMAT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JWT: header . payload . signature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 2.0  ·  JWT/JOSE  ·  FAPI 2.0  —  Complete Workshop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5486400" cy="3383280"/>
          </a:xfrm>
          <a:prstGeom prst="roundRect">
            <a:avLst>
              <a:gd name="adj" fmla="val 1622"/>
            </a:avLst>
          </a:prstGeom>
          <a:solidFill>
            <a:srgbClr val="F5F7FB"/>
          </a:solidFill>
          <a:ln w="12700">
            <a:solidFill>
              <a:srgbClr val="D8DEEA"/>
            </a:solidFill>
            <a:prstDash val="solid"/>
          </a:ln>
          <a:effectLst>
            <a:outerShdw sx="100000" sy="100000" kx="0" ky="0" algn="bl" rotWithShape="0" blurRad="88900" dist="38100" dir="8100000">
              <a:srgbClr val="1F3A5F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04672" y="1645920"/>
            <a:ext cx="5157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8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decoded payload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41248" y="1938528"/>
            <a:ext cx="508406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D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D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"iss": "https://auth.example.com",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D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"sub": "user_123",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D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"aud": "https://api.example.com",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D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"exp": 1760000000,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D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"scope": "repo.read repo.write"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D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0" y="1554480"/>
            <a:ext cx="5120640" cy="3383280"/>
          </a:xfrm>
          <a:prstGeom prst="roundRect">
            <a:avLst>
              <a:gd name="adj" fmla="val 1622"/>
            </a:avLst>
          </a:prstGeom>
          <a:solidFill>
            <a:srgbClr val="EEF3F8"/>
          </a:solidFill>
          <a:ln w="12700">
            <a:solidFill>
              <a:srgbClr val="D8DEEA"/>
            </a:solidFill>
            <a:prstDash val="solid"/>
          </a:ln>
          <a:effectLst>
            <a:outerShdw sx="100000" sy="100000" kx="0" ky="0" algn="bl" rotWithShape="0" blurRad="88900" dist="38100" dir="8100000">
              <a:srgbClr val="1F3A5F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583680" y="1700784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Claims that drive validation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83680" y="2121408"/>
            <a:ext cx="4754880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 — do we trust this issuer?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 — is this token meant for this API?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 / nbf — is it valid right now?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— enough permission for this action?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51206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A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signed JWT is only base64url-encoded — anyone holding it can read the payload.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4 · DECODING ≠ VALIDATION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resource server must check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 2.0  ·  JWT/JOSE  ·  FAPI 2.0  —  Complete Workshop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5349240" cy="3383280"/>
          </a:xfrm>
          <a:prstGeom prst="roundRect">
            <a:avLst>
              <a:gd name="adj" fmla="val 1622"/>
            </a:avLst>
          </a:prstGeom>
          <a:solidFill>
            <a:srgbClr val="EEF3F8"/>
          </a:solidFill>
          <a:ln w="12700">
            <a:solidFill>
              <a:srgbClr val="D8DEEA"/>
            </a:solidFill>
            <a:prstDash val="solid"/>
          </a:ln>
          <a:effectLst>
            <a:outerShdw sx="100000" sy="100000" kx="0" ky="0" algn="bl" rotWithShape="0" blurRad="88900" dist="38100" dir="8100000">
              <a:srgbClr val="1F3A5F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700784"/>
            <a:ext cx="4983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checklist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121408"/>
            <a:ext cx="4983480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Signature verifies with a trusted key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 is expected; kid is a trusted key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 trusted · aud is this API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 / nbf valid in time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sufficient · correct token type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1554480"/>
            <a:ext cx="5349240" cy="3383280"/>
          </a:xfrm>
          <a:prstGeom prst="roundRect">
            <a:avLst>
              <a:gd name="adj" fmla="val 1622"/>
            </a:avLst>
          </a:prstGeom>
          <a:solidFill>
            <a:srgbClr val="E9F5F2"/>
          </a:solidFill>
          <a:ln w="12700">
            <a:solidFill>
              <a:srgbClr val="A9D8CF"/>
            </a:solidFill>
            <a:prstDash val="solid"/>
          </a:ln>
          <a:effectLst>
            <a:outerShdw sx="100000" sy="100000" kx="0" ky="0" algn="bl" rotWithShape="0" blurRad="88900" dist="38100" dir="8100000">
              <a:srgbClr val="1F3A5F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1700784"/>
            <a:ext cx="4983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8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 for the right reason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92240" y="2121408"/>
            <a:ext cx="4983480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401 Unauthorized — missing, expired, malformed, invalid token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403 Forbidden — valid token, but not enough scope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(non-JWT) token? Call the introspection endpoint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55280" y="182880"/>
            <a:ext cx="40233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0" b="1" dirty="0">
                <a:solidFill>
                  <a:srgbClr val="2645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4000" dirty="0"/>
          </a:p>
        </p:txBody>
      </p:sp>
      <p:sp>
        <p:nvSpPr>
          <p:cNvPr id="3" name="Text 1"/>
          <p:cNvSpPr/>
          <p:nvPr/>
        </p:nvSpPr>
        <p:spPr>
          <a:xfrm>
            <a:off x="640080" y="2331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7FD9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05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2697480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JWS, JWE, JWK / JWKS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640080" y="41605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CE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JWS signs, JWE encrypts, JWK/JWKS publish the keys. Signed does not mean private.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5 · THE JOSE FAMILY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pieces that fit together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 2.0  ·  JWT/JOSE  ·  FAPI 2.0  —  Complete Workshop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8813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86968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Purpose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JWT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Compact claims format (the container)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JWS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Signature — integrity / authenticity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JWE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Encryption — confidentiality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JWK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JSON representation of one key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JWKS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published set of keys (selected by kid)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44805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JWS proves the content was not modified. JWE hides the content.</a:t>
            </a:r>
            <a:endParaRPr lang="en-US" sz="14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5 · KEYS &amp; ROTATION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verifier gets the key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 2.0  ·  JWT/JOSE  ·  FAPI 2.0  —  Complete Workshop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5349240" cy="3291840"/>
          </a:xfrm>
          <a:prstGeom prst="roundRect">
            <a:avLst>
              <a:gd name="adj" fmla="val 1667"/>
            </a:avLst>
          </a:prstGeom>
          <a:solidFill>
            <a:srgbClr val="EEF3F8"/>
          </a:solidFill>
          <a:ln w="12700">
            <a:solidFill>
              <a:srgbClr val="D8DEEA"/>
            </a:solidFill>
            <a:prstDash val="solid"/>
          </a:ln>
          <a:effectLst>
            <a:outerShdw sx="100000" sy="100000" kx="0" ky="0" algn="bl" rotWithShape="0" blurRad="88900" dist="38100" dir="8100000">
              <a:srgbClr val="1F3A5F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700784"/>
            <a:ext cx="4983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verification works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121408"/>
            <a:ext cx="498348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signs with its private key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publishes the public key in JWKS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 server fetches JWKS from a trusted jwks_uri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Selects the key by kid, then verifies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1554480"/>
            <a:ext cx="5349240" cy="3291840"/>
          </a:xfrm>
          <a:prstGeom prst="roundRect">
            <a:avLst>
              <a:gd name="adj" fmla="val 1667"/>
            </a:avLst>
          </a:prstGeom>
          <a:solidFill>
            <a:srgbClr val="FBECEA"/>
          </a:solidFill>
          <a:ln w="12700">
            <a:solidFill>
              <a:srgbClr val="E6B6AC"/>
            </a:solidFill>
            <a:prstDash val="solid"/>
          </a:ln>
          <a:effectLst>
            <a:outerShdw sx="100000" sy="100000" kx="0" ky="0" algn="bl" rotWithShape="0" blurRad="88900" dist="38100" dir="8100000">
              <a:srgbClr val="1F3A5F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1700784"/>
            <a:ext cx="4983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49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alg / kid mistakes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92240" y="2121408"/>
            <a:ext cx="498348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Accepting alg=none (unsigned tokens)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Accepting any algorithm from the token header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Fetching keys from a URL the token controls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Removing an old key before old tokens expire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5029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Allowed algorithms and key sources come from configuration — never from the token.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55280" y="182880"/>
            <a:ext cx="40233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0" b="1" dirty="0">
                <a:solidFill>
                  <a:srgbClr val="2645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24000" dirty="0"/>
          </a:p>
        </p:txBody>
      </p:sp>
      <p:sp>
        <p:nvSpPr>
          <p:cNvPr id="3" name="Text 1"/>
          <p:cNvSpPr/>
          <p:nvPr/>
        </p:nvSpPr>
        <p:spPr>
          <a:xfrm>
            <a:off x="640080" y="2331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7FD9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06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2697480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 Security Controls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640080" y="41605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CE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common attacks to the controls that stop them.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6 · LEGACY FLOWS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Avoid Implicit and Password grant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 2.0  ·  JWT/JOSE  ·  FAPI 2.0  —  Complete Workshop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5349240" cy="3017520"/>
          </a:xfrm>
          <a:prstGeom prst="roundRect">
            <a:avLst>
              <a:gd name="adj" fmla="val 1818"/>
            </a:avLst>
          </a:prstGeom>
          <a:solidFill>
            <a:srgbClr val="FBECEA"/>
          </a:solidFill>
          <a:ln w="12700">
            <a:solidFill>
              <a:srgbClr val="E6B6AC"/>
            </a:solidFill>
            <a:prstDash val="solid"/>
          </a:ln>
          <a:effectLst>
            <a:outerShdw sx="100000" sy="100000" kx="0" ky="0" algn="bl" rotWithShape="0" blurRad="88900" dist="38100" dir="8100000">
              <a:srgbClr val="1F3A5F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700784"/>
            <a:ext cx="4983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49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Implicit flow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121408"/>
            <a:ext cx="4983480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Returned tokens directly in the browser redirect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Front-channel token exposure (history, logs, scripts)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Replaced by Auth Code + PKCE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1554480"/>
            <a:ext cx="5349240" cy="3017520"/>
          </a:xfrm>
          <a:prstGeom prst="roundRect">
            <a:avLst>
              <a:gd name="adj" fmla="val 1818"/>
            </a:avLst>
          </a:prstGeom>
          <a:solidFill>
            <a:srgbClr val="FBECEA"/>
          </a:solidFill>
          <a:ln w="12700">
            <a:solidFill>
              <a:srgbClr val="E6B6AC"/>
            </a:solidFill>
            <a:prstDash val="solid"/>
          </a:ln>
          <a:effectLst>
            <a:outerShdw sx="100000" sy="100000" kx="0" ky="0" algn="bl" rotWithShape="0" blurRad="88900" dist="38100" dir="8100000">
              <a:srgbClr val="1F3A5F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1700784"/>
            <a:ext cx="4983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49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 credentials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92240" y="2121408"/>
            <a:ext cx="4983480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collects the user's real password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Breaks the core OAuth idea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MFA; a breached client exposes credentials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4800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Auth Code + PKCE for users, Client Credentials for services.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6 · THREAT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Attacks mapped to mitigations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 2.0  ·  JWT/JOSE  ·  FAPI 2.0  —  Complete Workshop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88136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76072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Attack / mistake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Mitigation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state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Generate, store, and verify state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Weak redirect URI matching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Exact, pre-registered redirect URIs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Authorization code interception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PKCE + short-lived single-use codes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Long-lived / stolen access token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 token lifetime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Refresh token theft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Rotation + reuse detection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Bearer token replay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Sender-constrained tokens (DPoP / mTLS)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55280" y="182880"/>
            <a:ext cx="40233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0" b="1" dirty="0">
                <a:solidFill>
                  <a:srgbClr val="2645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24000" dirty="0"/>
          </a:p>
        </p:txBody>
      </p:sp>
      <p:sp>
        <p:nvSpPr>
          <p:cNvPr id="3" name="Text 1"/>
          <p:cNvSpPr/>
          <p:nvPr/>
        </p:nvSpPr>
        <p:spPr>
          <a:xfrm>
            <a:off x="640080" y="2331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7FD9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07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2697480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Advanced: PAR, JAR, JARM, DPoP, mTLS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640080" y="41605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CE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Harden the request, the response, and proof of token possession.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7 · REQUEST &amp; RESPONSE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PAR, JAR, JARM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 2.0  ·  JWT/JOSE  ·  FAPI 2.0  —  Complete Workshop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8813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5486400"/>
                <a:gridCol w="38404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does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Protects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Push request details to a back-channel endpoint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Request exposure in the browser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Sign the authorization request (a JWT)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Request-parameter integrity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JARM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Sign the authorization response (a JWT)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Response integrity, mix-up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3749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 pushes the request back-channel · JAR signs the request · JARM signs the response.</a:t>
            </a:r>
            <a:endParaRPr lang="en-US" sz="13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7 · STOP TOKEN REPLAY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DPoP vs mTLS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 2.0  ·  JWT/JOSE  ·  FAPI 2.0  —  Complete Workshop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5349240" cy="3200400"/>
          </a:xfrm>
          <a:prstGeom prst="roundRect">
            <a:avLst>
              <a:gd name="adj" fmla="val 1714"/>
            </a:avLst>
          </a:prstGeom>
          <a:solidFill>
            <a:srgbClr val="EEF3F8"/>
          </a:solidFill>
          <a:ln w="12700">
            <a:solidFill>
              <a:srgbClr val="D8DEEA"/>
            </a:solidFill>
            <a:prstDash val="solid"/>
          </a:ln>
          <a:effectLst>
            <a:outerShdw sx="100000" sy="100000" kx="0" ky="0" algn="bl" rotWithShape="0" blurRad="88900" dist="38100" dir="8100000">
              <a:srgbClr val="1F3A5F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700784"/>
            <a:ext cx="4983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DPoP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121408"/>
            <a:ext cx="498348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Application-layer signed proof per request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bound to a public key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Fits public clients &amp; APIs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1554480"/>
            <a:ext cx="5349240" cy="3200400"/>
          </a:xfrm>
          <a:prstGeom prst="roundRect">
            <a:avLst>
              <a:gd name="adj" fmla="val 1714"/>
            </a:avLst>
          </a:prstGeom>
          <a:solidFill>
            <a:srgbClr val="E9F5F2"/>
          </a:solidFill>
          <a:ln w="12700">
            <a:solidFill>
              <a:srgbClr val="A9D8CF"/>
            </a:solidFill>
            <a:prstDash val="solid"/>
          </a:ln>
          <a:effectLst>
            <a:outerShdw sx="100000" sy="100000" kx="0" ky="0" algn="bl" rotWithShape="0" blurRad="88900" dist="38100" dir="8100000">
              <a:srgbClr val="1F3A5F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1700784"/>
            <a:ext cx="4983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8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92240" y="2121408"/>
            <a:ext cx="498348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TLS-layer client certificate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Certificate-bound access tokens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Fits confidential / high-security clients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4937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sender-constrain the token: a stolen bearer token alone is no longer enough.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55280" y="182880"/>
            <a:ext cx="40233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0" b="1" dirty="0">
                <a:solidFill>
                  <a:srgbClr val="2645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24000" dirty="0"/>
          </a:p>
        </p:txBody>
      </p:sp>
      <p:sp>
        <p:nvSpPr>
          <p:cNvPr id="3" name="Text 1"/>
          <p:cNvSpPr/>
          <p:nvPr/>
        </p:nvSpPr>
        <p:spPr>
          <a:xfrm>
            <a:off x="640080" y="2331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7FD9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08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2697480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FAPI 2.0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640080" y="41605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CE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high-security profile — stricter OAuth for high-value APIs, not a replacement protocol.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8 · WHAT FAPI 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Stricter OAuth, combined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 2.0  ·  JWT/JOSE  ·  FAPI 2.0  —  Complete Workshop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5349240" cy="3291840"/>
          </a:xfrm>
          <a:prstGeom prst="roundRect">
            <a:avLst>
              <a:gd name="adj" fmla="val 1667"/>
            </a:avLst>
          </a:prstGeom>
          <a:solidFill>
            <a:srgbClr val="EEF3F8"/>
          </a:solidFill>
          <a:ln w="12700">
            <a:solidFill>
              <a:srgbClr val="D8DEEA"/>
            </a:solidFill>
            <a:prstDash val="solid"/>
          </a:ln>
          <a:effectLst>
            <a:outerShdw sx="100000" sy="100000" kx="0" ky="0" algn="bl" rotWithShape="0" blurRad="88900" dist="38100" dir="8100000">
              <a:srgbClr val="1F3A5F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700784"/>
            <a:ext cx="4983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FAPI 2.0 combines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121408"/>
            <a:ext cx="498348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 OAuth configuration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 + sender-constrained tokens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 client authentication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 token validation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message signing (non-repudiation)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1554480"/>
            <a:ext cx="5349240" cy="3291840"/>
          </a:xfrm>
          <a:prstGeom prst="roundRect">
            <a:avLst>
              <a:gd name="adj" fmla="val 1667"/>
            </a:avLst>
          </a:prstGeom>
          <a:solidFill>
            <a:srgbClr val="E9F5F2"/>
          </a:solidFill>
          <a:ln w="12700">
            <a:solidFill>
              <a:srgbClr val="A9D8CF"/>
            </a:solidFill>
            <a:prstDash val="solid"/>
          </a:ln>
          <a:effectLst>
            <a:outerShdw sx="100000" sy="100000" kx="0" ky="0" algn="bl" rotWithShape="0" blurRad="88900" dist="38100" dir="8100000">
              <a:srgbClr val="1F3A5F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1700784"/>
            <a:ext cx="4983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8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it's used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92240" y="2121408"/>
            <a:ext cx="498348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banking &amp; payments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Healthcare &amp; sensitive identity APIs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Regulated / high-impact data APIs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5029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 OAuth gives options; FAPI chooses the strict ones for high-value APIs.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8 · CONTROLS → ATTACKS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FAPI controls mapped to risk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 2.0  ·  JWT/JOSE  ·  FAPI 2.0  —  Complete Workshop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881360" cy="914400"/>
        </p:xfrm>
        <a:graphic>
          <a:graphicData uri="http://schemas.openxmlformats.org/drawingml/2006/table">
            <a:tbl>
              <a:tblPr/>
              <a:tblGrid>
                <a:gridCol w="5394960"/>
                <a:gridCol w="548640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FAPI-oriented control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Authorization request tampering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 + signed request objects (JAR)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Bearer token replay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Sender-constrained tokens (DPoP / mTLS)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Weak client authentication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Private-key or certificate-based auth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 accepted by the wrong API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Strict audience validation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Payment / consent dispute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Message signing + audit evidence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554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7FD9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 TEACH THIS WHEN…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881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to teach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FD9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" y="3657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CE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 Auth Code + PKCE and Client Credentials from memory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4160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FD9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51560" y="4160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CE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code vs access vs refresh vs ID token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4663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FD9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51560" y="4663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CE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the JWT validation checks and why decoding isn't validation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5166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FD9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51560" y="51663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CE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attacks to mitigations: PKCE, state, redirect matching, DPoP/mTLS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5669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FD9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51560" y="5669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CE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FAPI as strict OAuth for high-value APIs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OAuth 2.0, JWT/JOSE &amp; FAPI 2.0 — Complete Workshop</dc:title>
  <dc:subject>PptxGenJS Presentation</dc:subject>
  <dc:creator>OAuth/JWT/FAPI Workshop</dc:creator>
  <cp:lastModifiedBy>OAuth/JWT/FAPI Workshop</cp:lastModifiedBy>
  <cp:revision>1</cp:revision>
  <dcterms:created xsi:type="dcterms:W3CDTF">2026-06-16T10:58:39Z</dcterms:created>
  <dcterms:modified xsi:type="dcterms:W3CDTF">2026-06-16T10:58:39Z</dcterms:modified>
</cp:coreProperties>
</file>