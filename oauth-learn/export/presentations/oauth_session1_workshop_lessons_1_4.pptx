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· SESSION 1 OF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&amp; JWT — the foundations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1–4: the mental model, the flows, and how tokens are validated.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57200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5720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Actors &amp; flows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0360" y="457200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4572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Code + PKCE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49240" y="4572000"/>
            <a:ext cx="2171700" cy="384048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49240" y="4572000"/>
            <a:ext cx="2171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flow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03820" y="457200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03820" y="45720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cover today — Lessons 1 to 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Lessons 1–4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49961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Problem, Actors &amp; Endpoints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35040" y="149961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OAuth exists; the four actors; tokens, scopes, consent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267712"/>
            <a:ext cx="384048" cy="384048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21284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Code + PKCE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0" y="221284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user flow; front vs back channel; PKCE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2980944"/>
            <a:ext cx="384048" cy="384048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9260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Credentials, Refresh &amp; Device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35040" y="29260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right flow for the application shape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694176"/>
            <a:ext cx="384048" cy="384048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6393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Validation &amp; JWT Basics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35040" y="363931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Claims; decoding ≠ validation; the validation checklist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61772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9F5F2"/>
          </a:solidFill>
          <a:ln w="12700">
            <a:solidFill>
              <a:srgbClr val="A9D8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754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 (date to be announced):  </a:t>
            </a:r>
            <a:pPr indent="0" marL="0">
              <a:buNone/>
            </a:pPr>
            <a:r>
              <a:rPr lang="en-US" sz="13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JWS/JWE/JWKS, OAuth security controls, advanced controls (PAR, JAR, JARM, DPoP, mTLS), and FAPI 2.0.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8288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264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Problem, Actors &amp; Endpoints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lets a client get limited API access on a user's behalf — without ever receiving the password.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· WHAT OAUTH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framework, not a login or a token format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Lessons 1–4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349240" cy="3291840"/>
          </a:xfrm>
          <a:prstGeom prst="roundRect">
            <a:avLst>
              <a:gd name="adj" fmla="val 1667"/>
            </a:avLst>
          </a:prstGeom>
          <a:solidFill>
            <a:srgbClr val="E9F5F2"/>
          </a:solidFill>
          <a:ln w="12700">
            <a:solidFill>
              <a:srgbClr val="A9D8CF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0078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121408"/>
            <a:ext cx="498348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authorization framework (RFC 6749)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way to get limited, scoped access via tokens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Answering: what may this client access?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349240" cy="3291840"/>
          </a:xfrm>
          <a:prstGeom prst="roundRect">
            <a:avLst>
              <a:gd name="adj" fmla="val 1667"/>
            </a:avLst>
          </a:prstGeom>
          <a:solidFill>
            <a:srgbClr val="FBECEA"/>
          </a:solidFill>
          <a:ln w="12700">
            <a:solidFill>
              <a:srgbClr val="E6B6AC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70078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is NOT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121408"/>
            <a:ext cx="498348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sharing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endpoint or token format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login protocol (that's OpenID Connect)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secure — implementation matters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074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= the model · RFCs = the spec · Flows = ways to use 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sharing is the wrong shape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Lessons 1–4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349240" cy="3017520"/>
          </a:xfrm>
          <a:prstGeom prst="roundRect">
            <a:avLst>
              <a:gd name="adj" fmla="val 1818"/>
            </a:avLst>
          </a:prstGeom>
          <a:solidFill>
            <a:srgbClr val="FBECEA"/>
          </a:solidFill>
          <a:ln w="12700">
            <a:solidFill>
              <a:srgbClr val="E6B6AC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0078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away the password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121408"/>
            <a:ext cx="498348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can do everything you can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way to scope to one resource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Revoking means changing the password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breach exposes the whole account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349240" cy="3017520"/>
          </a:xfrm>
          <a:prstGeom prst="roundRect">
            <a:avLst>
              <a:gd name="adj" fmla="val 1818"/>
            </a:avLst>
          </a:prstGeom>
          <a:solidFill>
            <a:srgbClr val="E9F5F2"/>
          </a:solidFill>
          <a:ln w="12700">
            <a:solidFill>
              <a:srgbClr val="A9D8CF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70078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 scoped token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121408"/>
            <a:ext cx="498348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to exactly what's needed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never leaves the trusted service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Revoke just this app, anytime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expires on its own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receives permission, not the user's password.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· THE CAST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actors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Lessons 1–4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9222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Owner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12848"/>
            <a:ext cx="4983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data — the user (e.g. you on GitHub)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79222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212848"/>
            <a:ext cx="4983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 access — the app (e.g. a deployment dashboard)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34670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Server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767328"/>
            <a:ext cx="4983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Authenticates the user, gets consent, issues tokens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20040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334670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Server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3767328"/>
            <a:ext cx="4983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Hosts the API and validates access tokens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who owns the data, who wants access, who grants it, who serves the API?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· ENDPOINTS &amp; CHANNELS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endpoints, two channels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Lessons 1–4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663440"/>
                <a:gridCol w="38404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/authorize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logs in &amp; approves access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Front-channel (browser) — more exposed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/token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Exchange a grant for an access token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Back-channel (server-to-server) — protected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Front-channel vs back-channel is the idea behind every later security control.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411480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426110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Also: the access token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4681728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Represents permission, not the user's password · scoped, expiring, revocable · checked by the resource server on every call.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· THE BOUNDARY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vs OpenID Connect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Lessons 1–4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434840"/>
                <a:gridCol w="44348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OAuth 2.0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OpenID Connect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Authorization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can this client access?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is the user?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token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 token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 token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 GitHub repos / Drive files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“Log in with Google”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 to call an API → OAuth. Wants to know who you are → OpenID Connect.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8288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264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Code + PKCE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browser carries only a short-lived code; tokens come from the back-channel. PKCE protects the exchange.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· THE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Code, step by step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Lessons 1–4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65760" cy="365760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0432" y="149961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redirects the browser to /authorize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267712"/>
            <a:ext cx="365760" cy="365760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2128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logs in and approves at the authorization server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980944"/>
            <a:ext cx="365760" cy="365760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70432" y="2926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redirects back with a short-lived code + state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694176"/>
            <a:ext cx="365760" cy="365760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70432" y="363931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posts the code to /token (back-channel)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407408"/>
            <a:ext cx="365760" cy="365760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407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70432" y="43525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receives the access token (+ refresh token)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5120640"/>
            <a:ext cx="365760" cy="365760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506577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calls the API with the access token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· THE REQUEST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request parameters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Lessons 1–4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69494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response_type=code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Ask for an authorization code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client_id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Identify the client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redirect_uri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the browser returns (must match registration)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Permissions requested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Bind the callback to a request the client started (CSRF)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code_challenge (+ _method=S256)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PKCE challenge for the code exchange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· WHY PKCE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stolen code should not be enough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Lessons 1–4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349240" cy="3108960"/>
          </a:xfrm>
          <a:prstGeom prst="roundRect">
            <a:avLst>
              <a:gd name="adj" fmla="val 1765"/>
            </a:avLst>
          </a:prstGeom>
          <a:solidFill>
            <a:srgbClr val="FBECEA"/>
          </a:solidFill>
          <a:ln w="12700">
            <a:solidFill>
              <a:srgbClr val="E6B6AC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0078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PKCE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121408"/>
            <a:ext cx="498348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intercepts the authorization code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it to /token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client is public, may get tokens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349240" cy="3108960"/>
          </a:xfrm>
          <a:prstGeom prst="roundRect">
            <a:avLst>
              <a:gd name="adj" fmla="val 1765"/>
            </a:avLst>
          </a:prstGeom>
          <a:solidFill>
            <a:srgbClr val="E9F5F2"/>
          </a:solidFill>
          <a:ln w="12700">
            <a:solidFill>
              <a:srgbClr val="A9D8CF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70078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PKCE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121408"/>
            <a:ext cx="498348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first sends code_challenge (a hash)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proves it with the code_verifier at /token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has the code but not the verifier → fails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5F7FB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4946904"/>
            <a:ext cx="10479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code_challenge = BASE64URL( SHA256(code_verifier) )      // S256, one-way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· NOT INTERCHANGEABLE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vs redirect_uri vs PKCE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Lessons 1–4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291840"/>
                <a:gridCol w="44805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Checked by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Callbacks the client did not start (CSRF)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redirect_uri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Authorization server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Binds the code to the original request target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code_verifier / challenge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endpoint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Proves the redeemer knows the original secret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solve different problems — a modern browser flow uses all three.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8288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264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Credentials, Refresh &amp; Device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is not one flow — different trust situations need different flows.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· PICK BY SITUATION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more flows, three problems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Lessons 1–4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007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Credentials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12140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Machine-to-machine — no user, no browser, no consent. Token represents the service.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93522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Token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35584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 a short-lived access token without sending the user through the flow again.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1696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Authorization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Limited-input devices (CLI, TV): user approves on a second device while the client polls.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· REFRESH TOKENS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 makes reuse detectable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Lessons 1–4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686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gets access token AT1 + refresh token RT1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Refresh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AT1 expires; client sends RT1 to /token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 returns AT2 + RT2, marks RT1 used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Reuse seen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RT1 appears again → treat as theft, revoke the family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access token opens the door once; a refresh token can keep making new keys — store it well.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· CHEAT SHEET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Lessons 1–4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97280"/>
                <a:gridCol w="1371600"/>
                <a:gridCol w="3657600"/>
                <a:gridCol w="18288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User?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Redirect?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use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Today?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 Code + PKCE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Web, SPA, mobile with a user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Credentials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Service-to-service APIs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Refresh Token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Sometimes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Renew an access token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Recommended w/ controls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Device Authorization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 / TV / limited input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appropriate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Implicit / Password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Legacy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8288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264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Validation &amp; JWT Basics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JWT is only a format. Security comes from validation — decoding is not validation.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· THE FORMAT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JWT: header . payload . signature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Lessons 1–4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486400" cy="3383280"/>
          </a:xfrm>
          <a:prstGeom prst="roundRect">
            <a:avLst>
              <a:gd name="adj" fmla="val 1622"/>
            </a:avLst>
          </a:prstGeom>
          <a:solidFill>
            <a:srgbClr val="F5F7FB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64592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8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decoded payload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1938528"/>
            <a:ext cx="508406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"iss": "https://auth.example.com",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"sub": "user_123",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"aud": "https://api.example.com",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"exp": 1760000000,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"scope": "repo.read repo.write"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120640" cy="3383280"/>
          </a:xfrm>
          <a:prstGeom prst="roundRect">
            <a:avLst>
              <a:gd name="adj" fmla="val 1622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7007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that drive validation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2121408"/>
            <a:ext cx="475488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 — do we trust this issuer?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 — is this token meant for this API?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 / nbf — is it valid right now?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— enough permission for this action?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signed JWT is only base64url-encoded — anyone holding it can read the payload.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· DECODING ≠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resource server must check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Lessons 1–4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349240" cy="3383280"/>
          </a:xfrm>
          <a:prstGeom prst="roundRect">
            <a:avLst>
              <a:gd name="adj" fmla="val 1622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0078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checklist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121408"/>
            <a:ext cx="498348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verifies with a trusted key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 is expected; kid is a trusted key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 trusted · aud is this API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 / nbf valid in time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sufficient · correct token type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349240" cy="3383280"/>
          </a:xfrm>
          <a:prstGeom prst="roundRect">
            <a:avLst>
              <a:gd name="adj" fmla="val 1622"/>
            </a:avLst>
          </a:prstGeom>
          <a:solidFill>
            <a:srgbClr val="E9F5F2"/>
          </a:solidFill>
          <a:ln w="12700">
            <a:solidFill>
              <a:srgbClr val="A9D8CF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70078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for the right reason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121408"/>
            <a:ext cx="498348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401 Unauthorized — missing, expired, malformed, invalid token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403 Forbidden — valid token, but not enough scope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 (non-JWT) token? Call the introspection endpoint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IN SESSION 2 · DATE TO BE ANNOUNCED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Session 2 goes next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06040" y="365760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JWS, JWE, JWK / JWKS — signing vs encryption, publishing &amp; rotating keys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224528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2452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06040" y="4224528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security controls — deprecated flows; attacks mapped to mitigations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791456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79145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4791456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Advanced: PAR, JAR, JARM, DPoP, mTLS — hardening requests &amp; token possession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358384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35838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53583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FAPI 2.0 — strict OAuth for high-value APIs (open banking, payments, health)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 · YOU'RE READY WHEN…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Session 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3749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OAuth in two minutes without mentioning JWT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4251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Authorization Code + PKCE from memory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right flow for a given application shape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the JWT validation checks and why decoding isn't validation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OAuth 2.0 &amp; JWT — Session 1 (Lessons 1–4)</dc:title>
  <dc:subject>PptxGenJS Presentation</dc:subject>
  <dc:creator>OAuth/JWT/FAPI Workshop</dc:creator>
  <cp:lastModifiedBy>OAuth/JWT/FAPI Workshop</cp:lastModifiedBy>
  <cp:revision>1</cp:revision>
  <dcterms:created xsi:type="dcterms:W3CDTF">2026-06-21T16:17:29Z</dcterms:created>
  <dcterms:modified xsi:type="dcterms:W3CDTF">2026-06-21T16:17:29Z</dcterms:modified>
</cp:coreProperties>
</file>