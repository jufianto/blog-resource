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4"/>
  </p:notesMasterIdLst>
  <p:sldIdLst>
    <p:sldId id="256" r:id="rId3"/>
  </p:sldIdLst>
  <p:sldSz cx="7562088" cy="10689336"/>
  <p:notesSz cx="10689336" cy="7562088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382"/>
        <p:guide pos="3366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 /><Relationship Id="rId6" Type="http://schemas.openxmlformats.org/officeDocument/2006/relationships/tableStyles" Target="tableStyles.xml" /><Relationship Id="rId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34512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637427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20922188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4644432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3175441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350033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5733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91654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138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125117" name="Shape 0"/>
          <p:cNvSpPr/>
          <p:nvPr/>
        </p:nvSpPr>
        <p:spPr bwMode="auto">
          <a:xfrm>
            <a:off x="0" y="0"/>
            <a:ext cx="7562088" cy="36118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598912070" name="Text 1"/>
          <p:cNvSpPr/>
          <p:nvPr/>
        </p:nvSpPr>
        <p:spPr bwMode="auto">
          <a:xfrm>
            <a:off x="566928" y="548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300">
                <a:solidFill>
                  <a:srgbClr val="7FD9CD"/>
                </a:solidFill>
                <a:latin typeface="Arial"/>
                <a:ea typeface="Arial"/>
                <a:cs typeface="Arial"/>
              </a:rPr>
              <a:t>HANDS-ON WORKSHOP  ·  TWO SESSIONS</a:t>
            </a:r>
            <a:endParaRPr lang="en-US" sz="1300"/>
          </a:p>
        </p:txBody>
      </p:sp>
      <p:sp>
        <p:nvSpPr>
          <p:cNvPr id="1104295855" name="Text 2"/>
          <p:cNvSpPr/>
          <p:nvPr/>
        </p:nvSpPr>
        <p:spPr bwMode="auto">
          <a:xfrm>
            <a:off x="521208" y="112014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  <a:defRPr/>
            </a:pPr>
            <a:r>
              <a:rPr lang="en-US"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OAuth 2.0, JWT/JOSE</a:t>
            </a:r>
            <a:endParaRPr lang="en-US" sz="3800"/>
          </a:p>
          <a:p>
            <a:pPr marL="0" indent="0">
              <a:lnSpc>
                <a:spcPct val="98000"/>
              </a:lnSpc>
              <a:buNone/>
              <a:defRPr/>
            </a:pPr>
            <a:r>
              <a:rPr lang="en-US"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&amp; FAPI 2.0</a:t>
            </a:r>
            <a:endParaRPr lang="en-US" sz="3800"/>
          </a:p>
        </p:txBody>
      </p:sp>
      <p:sp>
        <p:nvSpPr>
          <p:cNvPr id="1787040955" name="Shape 4"/>
          <p:cNvSpPr/>
          <p:nvPr/>
        </p:nvSpPr>
        <p:spPr bwMode="auto">
          <a:xfrm>
            <a:off x="566928" y="2999232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215622009" name="Text 5"/>
          <p:cNvSpPr/>
          <p:nvPr/>
        </p:nvSpPr>
        <p:spPr bwMode="auto">
          <a:xfrm>
            <a:off x="566928" y="2999232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BFE9E1"/>
                </a:solidFill>
                <a:latin typeface="Arial"/>
                <a:ea typeface="Arial"/>
                <a:cs typeface="Arial"/>
              </a:rPr>
              <a:t>Flows</a:t>
            </a:r>
            <a:endParaRPr lang="en-US" sz="1050"/>
          </a:p>
        </p:txBody>
      </p:sp>
      <p:sp>
        <p:nvSpPr>
          <p:cNvPr id="171443020" name="Shape 6"/>
          <p:cNvSpPr/>
          <p:nvPr/>
        </p:nvSpPr>
        <p:spPr bwMode="auto">
          <a:xfrm>
            <a:off x="1577340" y="299923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6508449" name="Text 7"/>
          <p:cNvSpPr/>
          <p:nvPr/>
        </p:nvSpPr>
        <p:spPr bwMode="auto">
          <a:xfrm>
            <a:off x="1577340" y="299923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BFE9E1"/>
                </a:solidFill>
                <a:latin typeface="Arial"/>
                <a:ea typeface="Arial"/>
                <a:cs typeface="Arial"/>
              </a:rPr>
              <a:t>Tokens</a:t>
            </a:r>
            <a:endParaRPr lang="en-US" sz="1050"/>
          </a:p>
        </p:txBody>
      </p:sp>
      <p:sp>
        <p:nvSpPr>
          <p:cNvPr id="1841518513" name="Shape 8"/>
          <p:cNvSpPr/>
          <p:nvPr/>
        </p:nvSpPr>
        <p:spPr bwMode="auto">
          <a:xfrm>
            <a:off x="2683764" y="2999232"/>
            <a:ext cx="1344168" cy="329184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956757509" name="Text 9"/>
          <p:cNvSpPr/>
          <p:nvPr/>
        </p:nvSpPr>
        <p:spPr bwMode="auto">
          <a:xfrm>
            <a:off x="2683764" y="2999232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BFE9E1"/>
                </a:solidFill>
                <a:latin typeface="Arial"/>
                <a:ea typeface="Arial"/>
                <a:cs typeface="Arial"/>
              </a:rPr>
              <a:t>JWT / JOSE</a:t>
            </a:r>
            <a:endParaRPr lang="en-US" sz="1050"/>
          </a:p>
        </p:txBody>
      </p:sp>
      <p:sp>
        <p:nvSpPr>
          <p:cNvPr id="1972347640" name="Shape 10"/>
          <p:cNvSpPr/>
          <p:nvPr/>
        </p:nvSpPr>
        <p:spPr bwMode="auto">
          <a:xfrm>
            <a:off x="4174235" y="2999232"/>
            <a:ext cx="1152144" cy="329184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488644905" name="Text 11"/>
          <p:cNvSpPr/>
          <p:nvPr/>
        </p:nvSpPr>
        <p:spPr bwMode="auto">
          <a:xfrm>
            <a:off x="4174235" y="2999232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BFE9E1"/>
                </a:solidFill>
                <a:latin typeface="Arial"/>
                <a:ea typeface="Arial"/>
                <a:cs typeface="Arial"/>
              </a:rPr>
              <a:t>Security</a:t>
            </a:r>
            <a:endParaRPr lang="en-US" sz="1050"/>
          </a:p>
        </p:txBody>
      </p:sp>
      <p:sp>
        <p:nvSpPr>
          <p:cNvPr id="102570202" name="Shape 12"/>
          <p:cNvSpPr/>
          <p:nvPr/>
        </p:nvSpPr>
        <p:spPr bwMode="auto">
          <a:xfrm>
            <a:off x="5472684" y="2999232"/>
            <a:ext cx="1152144" cy="329184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651907162" name="Text 13"/>
          <p:cNvSpPr/>
          <p:nvPr/>
        </p:nvSpPr>
        <p:spPr bwMode="auto">
          <a:xfrm>
            <a:off x="5472684" y="2999232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BFE9E1"/>
                </a:solidFill>
                <a:latin typeface="Arial"/>
                <a:ea typeface="Arial"/>
                <a:cs typeface="Arial"/>
              </a:rPr>
              <a:t>FAPI 2.0</a:t>
            </a:r>
            <a:endParaRPr lang="en-US" sz="1050"/>
          </a:p>
        </p:txBody>
      </p:sp>
      <p:sp>
        <p:nvSpPr>
          <p:cNvPr id="1351527322" name="Text 14"/>
          <p:cNvSpPr/>
          <p:nvPr/>
        </p:nvSpPr>
        <p:spPr bwMode="auto">
          <a:xfrm>
            <a:off x="566928" y="3895343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 spc="200">
                <a:solidFill>
                  <a:srgbClr val="0F8A7E"/>
                </a:solidFill>
                <a:latin typeface="Arial"/>
                <a:ea typeface="Arial"/>
                <a:cs typeface="Arial"/>
              </a:rPr>
              <a:t>WHAT YOU'LL WALK AWAY ABLE TO DO</a:t>
            </a:r>
            <a:endParaRPr lang="en-US" sz="1250"/>
          </a:p>
        </p:txBody>
      </p:sp>
      <p:sp>
        <p:nvSpPr>
          <p:cNvPr id="1599866996" name="Text 15"/>
          <p:cNvSpPr/>
          <p:nvPr/>
        </p:nvSpPr>
        <p:spPr bwMode="auto">
          <a:xfrm>
            <a:off x="566928" y="424281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8A7E"/>
                </a:solidFill>
                <a:latin typeface="Arial"/>
                <a:ea typeface="Arial"/>
                <a:cs typeface="Arial"/>
              </a:rPr>
              <a:t>✓</a:t>
            </a:r>
            <a:endParaRPr lang="en-US" sz="1400"/>
          </a:p>
        </p:txBody>
      </p:sp>
      <p:sp>
        <p:nvSpPr>
          <p:cNvPr id="1156874984" name="Text 16"/>
          <p:cNvSpPr/>
          <p:nvPr/>
        </p:nvSpPr>
        <p:spPr bwMode="auto">
          <a:xfrm>
            <a:off x="896112" y="424281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D2733"/>
                </a:solidFill>
                <a:latin typeface="Arial"/>
                <a:ea typeface="Arial"/>
                <a:cs typeface="Arial"/>
              </a:rPr>
              <a:t>Choose the right OAuth flow and draw Authorization Code + PKCE from memory</a:t>
            </a:r>
            <a:endParaRPr lang="en-US" sz="1200"/>
          </a:p>
        </p:txBody>
      </p:sp>
      <p:sp>
        <p:nvSpPr>
          <p:cNvPr id="924853562" name="Text 17"/>
          <p:cNvSpPr/>
          <p:nvPr/>
        </p:nvSpPr>
        <p:spPr bwMode="auto">
          <a:xfrm>
            <a:off x="566928" y="464515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8A7E"/>
                </a:solidFill>
                <a:latin typeface="Arial"/>
                <a:ea typeface="Arial"/>
                <a:cs typeface="Arial"/>
              </a:rPr>
              <a:t>✓</a:t>
            </a:r>
            <a:endParaRPr lang="en-US" sz="1400"/>
          </a:p>
        </p:txBody>
      </p:sp>
      <p:sp>
        <p:nvSpPr>
          <p:cNvPr id="127056957" name="Text 18"/>
          <p:cNvSpPr/>
          <p:nvPr/>
        </p:nvSpPr>
        <p:spPr bwMode="auto">
          <a:xfrm>
            <a:off x="896112" y="46451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D2733"/>
                </a:solidFill>
                <a:latin typeface="Arial"/>
                <a:ea typeface="Arial"/>
                <a:cs typeface="Arial"/>
              </a:rPr>
              <a:t>Validate JWTs properly — and explain why decoding is not validation</a:t>
            </a:r>
            <a:endParaRPr lang="en-US" sz="1200"/>
          </a:p>
        </p:txBody>
      </p:sp>
      <p:sp>
        <p:nvSpPr>
          <p:cNvPr id="1423971039" name="Text 19"/>
          <p:cNvSpPr/>
          <p:nvPr/>
        </p:nvSpPr>
        <p:spPr bwMode="auto">
          <a:xfrm>
            <a:off x="566928" y="50474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8A7E"/>
                </a:solidFill>
                <a:latin typeface="Arial"/>
                <a:ea typeface="Arial"/>
                <a:cs typeface="Arial"/>
              </a:rPr>
              <a:t>✓</a:t>
            </a:r>
            <a:endParaRPr lang="en-US" sz="1400"/>
          </a:p>
        </p:txBody>
      </p:sp>
      <p:sp>
        <p:nvSpPr>
          <p:cNvPr id="274121393" name="Text 20"/>
          <p:cNvSpPr/>
          <p:nvPr/>
        </p:nvSpPr>
        <p:spPr bwMode="auto">
          <a:xfrm>
            <a:off x="896112" y="504748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D2733"/>
                </a:solidFill>
                <a:latin typeface="Arial"/>
                <a:ea typeface="Arial"/>
                <a:cs typeface="Arial"/>
              </a:rPr>
              <a:t>Map real-world attacks to the controls that stop them</a:t>
            </a:r>
            <a:endParaRPr lang="en-US" sz="1200"/>
          </a:p>
        </p:txBody>
      </p:sp>
      <p:sp>
        <p:nvSpPr>
          <p:cNvPr id="1743353011" name="Text 21"/>
          <p:cNvSpPr/>
          <p:nvPr/>
        </p:nvSpPr>
        <p:spPr bwMode="auto">
          <a:xfrm>
            <a:off x="566928" y="5449823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8A7E"/>
                </a:solidFill>
                <a:latin typeface="Arial"/>
                <a:ea typeface="Arial"/>
                <a:cs typeface="Arial"/>
              </a:rPr>
              <a:t>✓</a:t>
            </a:r>
            <a:endParaRPr lang="en-US" sz="1400"/>
          </a:p>
        </p:txBody>
      </p:sp>
      <p:sp>
        <p:nvSpPr>
          <p:cNvPr id="1127637263" name="Text 22"/>
          <p:cNvSpPr/>
          <p:nvPr/>
        </p:nvSpPr>
        <p:spPr bwMode="auto">
          <a:xfrm>
            <a:off x="896112" y="5449823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D2733"/>
                </a:solidFill>
                <a:latin typeface="Arial"/>
                <a:ea typeface="Arial"/>
                <a:cs typeface="Arial"/>
              </a:rPr>
              <a:t>Explain FAPI 2.0 as strict OAuth for high-value APIs</a:t>
            </a:r>
            <a:endParaRPr lang="en-US" sz="1200"/>
          </a:p>
        </p:txBody>
      </p:sp>
      <p:sp>
        <p:nvSpPr>
          <p:cNvPr id="1769665821" name="Text 23"/>
          <p:cNvSpPr/>
          <p:nvPr/>
        </p:nvSpPr>
        <p:spPr bwMode="auto">
          <a:xfrm>
            <a:off x="566928" y="59893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 spc="200">
                <a:solidFill>
                  <a:srgbClr val="0F8A7E"/>
                </a:solidFill>
                <a:latin typeface="Arial"/>
                <a:ea typeface="Arial"/>
                <a:cs typeface="Arial"/>
              </a:rPr>
              <a:t>WHAT WE COVER — ACROSS TWO SESSIONS</a:t>
            </a:r>
            <a:endParaRPr lang="en-US" sz="1250"/>
          </a:p>
        </p:txBody>
      </p:sp>
      <p:sp>
        <p:nvSpPr>
          <p:cNvPr id="1481878620" name="Text 24"/>
          <p:cNvSpPr/>
          <p:nvPr/>
        </p:nvSpPr>
        <p:spPr bwMode="auto">
          <a:xfrm>
            <a:off x="566928" y="63276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 spc="100">
                <a:solidFill>
                  <a:srgbClr val="0F8A7E"/>
                </a:solidFill>
                <a:latin typeface="Arial"/>
                <a:ea typeface="Arial"/>
                <a:cs typeface="Arial"/>
              </a:rPr>
              <a:t>SESSION 1  · 4 July 2026</a:t>
            </a:r>
            <a:endParaRPr lang="en-US" sz="1050"/>
          </a:p>
        </p:txBody>
      </p:sp>
      <p:sp>
        <p:nvSpPr>
          <p:cNvPr id="1612259630" name="Text 25"/>
          <p:cNvSpPr/>
          <p:nvPr/>
        </p:nvSpPr>
        <p:spPr bwMode="auto">
          <a:xfrm>
            <a:off x="3968496" y="63276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 spc="100">
                <a:solidFill>
                  <a:srgbClr val="5A6B7B"/>
                </a:solidFill>
                <a:latin typeface="Arial"/>
                <a:ea typeface="Arial"/>
                <a:cs typeface="Arial"/>
              </a:rPr>
              <a:t>SESSION 2  ·  DATE TBA</a:t>
            </a:r>
            <a:endParaRPr lang="en-US" sz="1050"/>
          </a:p>
        </p:txBody>
      </p:sp>
      <p:sp>
        <p:nvSpPr>
          <p:cNvPr id="1994661166" name="Shape 26"/>
          <p:cNvSpPr/>
          <p:nvPr/>
        </p:nvSpPr>
        <p:spPr bwMode="auto">
          <a:xfrm>
            <a:off x="566928" y="6675120"/>
            <a:ext cx="310896" cy="310896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461779110" name="Text 27"/>
          <p:cNvSpPr/>
          <p:nvPr/>
        </p:nvSpPr>
        <p:spPr bwMode="auto">
          <a:xfrm>
            <a:off x="566928" y="6675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lang="en-US" sz="1200"/>
          </a:p>
        </p:txBody>
      </p:sp>
      <p:sp>
        <p:nvSpPr>
          <p:cNvPr id="1246481010" name="Text 28"/>
          <p:cNvSpPr/>
          <p:nvPr/>
        </p:nvSpPr>
        <p:spPr bwMode="auto">
          <a:xfrm>
            <a:off x="987552" y="6647687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D2733"/>
                </a:solidFill>
                <a:latin typeface="Arial"/>
                <a:ea typeface="Arial"/>
                <a:cs typeface="Arial"/>
              </a:rPr>
              <a:t>OAuth problem, actors &amp; endpoints</a:t>
            </a:r>
            <a:endParaRPr lang="en-US" sz="1100"/>
          </a:p>
        </p:txBody>
      </p:sp>
      <p:sp>
        <p:nvSpPr>
          <p:cNvPr id="825235114" name="Shape 29"/>
          <p:cNvSpPr/>
          <p:nvPr/>
        </p:nvSpPr>
        <p:spPr bwMode="auto">
          <a:xfrm>
            <a:off x="566928" y="7095744"/>
            <a:ext cx="310896" cy="310896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418925972" name="Text 30"/>
          <p:cNvSpPr/>
          <p:nvPr/>
        </p:nvSpPr>
        <p:spPr bwMode="auto">
          <a:xfrm>
            <a:off x="566928" y="7095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lang="en-US" sz="1200"/>
          </a:p>
        </p:txBody>
      </p:sp>
      <p:sp>
        <p:nvSpPr>
          <p:cNvPr id="543593690" name="Text 31"/>
          <p:cNvSpPr/>
          <p:nvPr/>
        </p:nvSpPr>
        <p:spPr bwMode="auto">
          <a:xfrm>
            <a:off x="987552" y="70683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D2733"/>
                </a:solidFill>
                <a:latin typeface="Arial"/>
                <a:ea typeface="Arial"/>
                <a:cs typeface="Arial"/>
              </a:rPr>
              <a:t>Authorization Code + PKCE</a:t>
            </a:r>
            <a:endParaRPr lang="en-US" sz="1100"/>
          </a:p>
        </p:txBody>
      </p:sp>
      <p:sp>
        <p:nvSpPr>
          <p:cNvPr id="539138843" name="Shape 32"/>
          <p:cNvSpPr/>
          <p:nvPr/>
        </p:nvSpPr>
        <p:spPr bwMode="auto">
          <a:xfrm>
            <a:off x="566928" y="7516368"/>
            <a:ext cx="310896" cy="310896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340390700" name="Text 33"/>
          <p:cNvSpPr/>
          <p:nvPr/>
        </p:nvSpPr>
        <p:spPr bwMode="auto">
          <a:xfrm>
            <a:off x="566928" y="7516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lang="en-US" sz="1200"/>
          </a:p>
        </p:txBody>
      </p:sp>
      <p:sp>
        <p:nvSpPr>
          <p:cNvPr id="1954843725" name="Text 34"/>
          <p:cNvSpPr/>
          <p:nvPr/>
        </p:nvSpPr>
        <p:spPr bwMode="auto">
          <a:xfrm>
            <a:off x="987552" y="748893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D2733"/>
                </a:solidFill>
                <a:latin typeface="Arial"/>
                <a:ea typeface="Arial"/>
                <a:cs typeface="Arial"/>
              </a:rPr>
              <a:t>Client Credentials, Refresh &amp; Device</a:t>
            </a:r>
            <a:endParaRPr lang="en-US" sz="1100"/>
          </a:p>
        </p:txBody>
      </p:sp>
      <p:sp>
        <p:nvSpPr>
          <p:cNvPr id="1654774003" name="Shape 35"/>
          <p:cNvSpPr/>
          <p:nvPr/>
        </p:nvSpPr>
        <p:spPr bwMode="auto">
          <a:xfrm>
            <a:off x="566928" y="7936992"/>
            <a:ext cx="310896" cy="310896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842011539" name="Text 36"/>
          <p:cNvSpPr/>
          <p:nvPr/>
        </p:nvSpPr>
        <p:spPr bwMode="auto">
          <a:xfrm>
            <a:off x="566928" y="7936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lang="en-US" sz="1200"/>
          </a:p>
        </p:txBody>
      </p:sp>
      <p:sp>
        <p:nvSpPr>
          <p:cNvPr id="1797214521" name="Text 37"/>
          <p:cNvSpPr/>
          <p:nvPr/>
        </p:nvSpPr>
        <p:spPr bwMode="auto">
          <a:xfrm>
            <a:off x="987552" y="7909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D2733"/>
                </a:solidFill>
                <a:latin typeface="Arial"/>
                <a:ea typeface="Arial"/>
                <a:cs typeface="Arial"/>
              </a:rPr>
              <a:t>Token validation &amp; JWT basics</a:t>
            </a:r>
            <a:endParaRPr lang="en-US" sz="1100"/>
          </a:p>
        </p:txBody>
      </p:sp>
      <p:sp>
        <p:nvSpPr>
          <p:cNvPr id="1634920693" name="Shape 38"/>
          <p:cNvSpPr/>
          <p:nvPr/>
        </p:nvSpPr>
        <p:spPr bwMode="auto">
          <a:xfrm>
            <a:off x="3968496" y="6675120"/>
            <a:ext cx="310896" cy="310896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1861179562" name="Text 39"/>
          <p:cNvSpPr/>
          <p:nvPr/>
        </p:nvSpPr>
        <p:spPr bwMode="auto">
          <a:xfrm>
            <a:off x="3968496" y="6675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lang="en-US" sz="1200"/>
          </a:p>
        </p:txBody>
      </p:sp>
      <p:sp>
        <p:nvSpPr>
          <p:cNvPr id="771074462" name="Text 40"/>
          <p:cNvSpPr/>
          <p:nvPr/>
        </p:nvSpPr>
        <p:spPr bwMode="auto">
          <a:xfrm>
            <a:off x="4389120" y="6647687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A6B7B"/>
                </a:solidFill>
                <a:latin typeface="Arial"/>
                <a:ea typeface="Arial"/>
                <a:cs typeface="Arial"/>
              </a:rPr>
              <a:t>JWS, JWE, JWK / JWKS</a:t>
            </a:r>
            <a:endParaRPr lang="en-US" sz="1100"/>
          </a:p>
        </p:txBody>
      </p:sp>
      <p:sp>
        <p:nvSpPr>
          <p:cNvPr id="1477496632" name="Shape 41"/>
          <p:cNvSpPr/>
          <p:nvPr/>
        </p:nvSpPr>
        <p:spPr bwMode="auto">
          <a:xfrm>
            <a:off x="3968496" y="7095744"/>
            <a:ext cx="310896" cy="310896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1646766820" name="Text 42"/>
          <p:cNvSpPr/>
          <p:nvPr/>
        </p:nvSpPr>
        <p:spPr bwMode="auto">
          <a:xfrm>
            <a:off x="3968496" y="7095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lang="en-US" sz="1200"/>
          </a:p>
        </p:txBody>
      </p:sp>
      <p:sp>
        <p:nvSpPr>
          <p:cNvPr id="987040635" name="Text 43"/>
          <p:cNvSpPr/>
          <p:nvPr/>
        </p:nvSpPr>
        <p:spPr bwMode="auto">
          <a:xfrm>
            <a:off x="4389120" y="70683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A6B7B"/>
                </a:solidFill>
                <a:latin typeface="Arial"/>
                <a:ea typeface="Arial"/>
                <a:cs typeface="Arial"/>
              </a:rPr>
              <a:t>OAuth security controls</a:t>
            </a:r>
            <a:endParaRPr lang="en-US" sz="1100"/>
          </a:p>
        </p:txBody>
      </p:sp>
      <p:sp>
        <p:nvSpPr>
          <p:cNvPr id="1039900804" name="Shape 44"/>
          <p:cNvSpPr/>
          <p:nvPr/>
        </p:nvSpPr>
        <p:spPr bwMode="auto">
          <a:xfrm>
            <a:off x="3968496" y="7516368"/>
            <a:ext cx="310896" cy="310896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1815239118" name="Text 45"/>
          <p:cNvSpPr/>
          <p:nvPr/>
        </p:nvSpPr>
        <p:spPr bwMode="auto">
          <a:xfrm>
            <a:off x="3968496" y="7516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  <a:endParaRPr lang="en-US" sz="1200"/>
          </a:p>
        </p:txBody>
      </p:sp>
      <p:sp>
        <p:nvSpPr>
          <p:cNvPr id="1485766831" name="Text 46"/>
          <p:cNvSpPr/>
          <p:nvPr/>
        </p:nvSpPr>
        <p:spPr bwMode="auto">
          <a:xfrm>
            <a:off x="4389120" y="748893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A6B7B"/>
                </a:solidFill>
                <a:latin typeface="Arial"/>
                <a:ea typeface="Arial"/>
                <a:cs typeface="Arial"/>
              </a:rPr>
              <a:t>Advanced: PAR, JAR, JARM, DPoP, mTLS</a:t>
            </a:r>
            <a:endParaRPr lang="en-US" sz="1100"/>
          </a:p>
        </p:txBody>
      </p:sp>
      <p:sp>
        <p:nvSpPr>
          <p:cNvPr id="370309789" name="Shape 47"/>
          <p:cNvSpPr/>
          <p:nvPr/>
        </p:nvSpPr>
        <p:spPr bwMode="auto">
          <a:xfrm>
            <a:off x="3968496" y="7936992"/>
            <a:ext cx="310896" cy="310896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1469726484" name="Text 48"/>
          <p:cNvSpPr/>
          <p:nvPr/>
        </p:nvSpPr>
        <p:spPr bwMode="auto">
          <a:xfrm>
            <a:off x="3968496" y="7936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  <a:endParaRPr lang="en-US" sz="1200"/>
          </a:p>
        </p:txBody>
      </p:sp>
      <p:sp>
        <p:nvSpPr>
          <p:cNvPr id="687680728" name="Text 49"/>
          <p:cNvSpPr/>
          <p:nvPr/>
        </p:nvSpPr>
        <p:spPr bwMode="auto">
          <a:xfrm>
            <a:off x="4389120" y="7909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A6B7B"/>
                </a:solidFill>
                <a:latin typeface="Arial"/>
                <a:ea typeface="Arial"/>
                <a:cs typeface="Arial"/>
              </a:rPr>
              <a:t>FAPI 2.0</a:t>
            </a:r>
            <a:endParaRPr lang="en-US" sz="1100"/>
          </a:p>
        </p:txBody>
      </p:sp>
      <p:sp>
        <p:nvSpPr>
          <p:cNvPr id="765300960" name="Shape 50"/>
          <p:cNvSpPr/>
          <p:nvPr/>
        </p:nvSpPr>
        <p:spPr bwMode="auto">
          <a:xfrm>
            <a:off x="566928" y="8549640"/>
            <a:ext cx="3163824" cy="1444752"/>
          </a:xfrm>
          <a:prstGeom prst="roundRect">
            <a:avLst>
              <a:gd name="adj" fmla="val 3797"/>
            </a:avLst>
          </a:prstGeom>
          <a:solidFill>
            <a:srgbClr val="E9F5F2"/>
          </a:solidFill>
          <a:ln w="12700">
            <a:solidFill>
              <a:srgbClr val="A9D8CF"/>
            </a:solidFill>
            <a:prstDash val="solid"/>
          </a:ln>
        </p:spPr>
      </p:sp>
      <p:sp>
        <p:nvSpPr>
          <p:cNvPr id="1076084673" name="Text 51"/>
          <p:cNvSpPr/>
          <p:nvPr/>
        </p:nvSpPr>
        <p:spPr bwMode="auto">
          <a:xfrm>
            <a:off x="749808" y="8695944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b="1" spc="100">
                <a:solidFill>
                  <a:srgbClr val="0F8A7E"/>
                </a:solidFill>
                <a:latin typeface="Arial"/>
                <a:ea typeface="Arial"/>
                <a:cs typeface="Arial"/>
              </a:rPr>
              <a:t>HOW IT WORKS</a:t>
            </a:r>
            <a:endParaRPr lang="en-US" sz="1150"/>
          </a:p>
        </p:txBody>
      </p:sp>
      <p:sp>
        <p:nvSpPr>
          <p:cNvPr id="886050580" name="Text 52"/>
          <p:cNvSpPr/>
          <p:nvPr/>
        </p:nvSpPr>
        <p:spPr bwMode="auto">
          <a:xfrm>
            <a:off x="749808" y="9006840"/>
            <a:ext cx="2798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400"/>
              </a:spcAft>
              <a:buNone/>
              <a:defRPr/>
            </a:pPr>
            <a:r>
              <a:rPr lang="en-US" sz="1150" b="1">
                <a:solidFill>
                  <a:srgbClr val="1D2733"/>
                </a:solidFill>
                <a:latin typeface="Arial"/>
                <a:ea typeface="Arial"/>
                <a:cs typeface="Arial"/>
              </a:rPr>
              <a:t>Two sessions, hands-on</a:t>
            </a:r>
            <a:endParaRPr lang="en-US" sz="1150"/>
          </a:p>
          <a:p>
            <a:pPr marL="0" indent="0">
              <a:lnSpc>
                <a:spcPct val="102000"/>
              </a:lnSpc>
              <a:spcAft>
                <a:spcPts val="400"/>
              </a:spcAft>
              <a:buNone/>
              <a:defRPr/>
            </a:pPr>
            <a:r>
              <a:rPr lang="en-US" sz="1150">
                <a:solidFill>
                  <a:srgbClr val="1D2733"/>
                </a:solidFill>
                <a:latin typeface="Arial"/>
                <a:ea typeface="Arial"/>
                <a:cs typeface="Arial"/>
              </a:rPr>
              <a:t>Each topic: concept → diagram → run a real Go demo → explain it back.</a:t>
            </a:r>
            <a:endParaRPr lang="en-US" sz="1150"/>
          </a:p>
        </p:txBody>
      </p:sp>
      <p:sp>
        <p:nvSpPr>
          <p:cNvPr id="1933641763" name="Shape 53"/>
          <p:cNvSpPr/>
          <p:nvPr/>
        </p:nvSpPr>
        <p:spPr bwMode="auto">
          <a:xfrm>
            <a:off x="4041648" y="8549640"/>
            <a:ext cx="3163824" cy="1444752"/>
          </a:xfrm>
          <a:prstGeom prst="roundRect">
            <a:avLst>
              <a:gd name="adj" fmla="val 3797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529910217" name="Text 54"/>
          <p:cNvSpPr/>
          <p:nvPr/>
        </p:nvSpPr>
        <p:spPr bwMode="auto">
          <a:xfrm>
            <a:off x="4224528" y="8695944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b="1" spc="100">
                <a:solidFill>
                  <a:srgbClr val="1F3A5F"/>
                </a:solidFill>
                <a:latin typeface="Arial"/>
                <a:ea typeface="Arial"/>
                <a:cs typeface="Arial"/>
              </a:rPr>
              <a:t>WHO IT'S FOR</a:t>
            </a:r>
            <a:endParaRPr lang="en-US" sz="1150"/>
          </a:p>
        </p:txBody>
      </p:sp>
      <p:sp>
        <p:nvSpPr>
          <p:cNvPr id="1718928170" name="Text 55"/>
          <p:cNvSpPr/>
          <p:nvPr/>
        </p:nvSpPr>
        <p:spPr bwMode="auto">
          <a:xfrm>
            <a:off x="4224528" y="9006840"/>
            <a:ext cx="2798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400"/>
              </a:spcAft>
              <a:buNone/>
              <a:defRPr/>
            </a:pPr>
            <a:r>
              <a:rPr lang="en-US" sz="1150">
                <a:solidFill>
                  <a:srgbClr val="1D2733"/>
                </a:solidFill>
                <a:latin typeface="Arial"/>
                <a:ea typeface="Arial"/>
                <a:cs typeface="Arial"/>
              </a:rPr>
              <a:t>Backend, API &amp; security engineers</a:t>
            </a:r>
            <a:endParaRPr lang="en-US" sz="1150"/>
          </a:p>
          <a:p>
            <a:pPr marL="0" indent="0">
              <a:lnSpc>
                <a:spcPct val="102000"/>
              </a:lnSpc>
              <a:spcAft>
                <a:spcPts val="400"/>
              </a:spcAft>
              <a:buNone/>
              <a:defRPr/>
            </a:pPr>
            <a:r>
              <a:rPr lang="en-US" sz="1150">
                <a:solidFill>
                  <a:srgbClr val="1D2733"/>
                </a:solidFill>
                <a:latin typeface="Arial"/>
                <a:ea typeface="Arial"/>
                <a:cs typeface="Arial"/>
              </a:rPr>
              <a:t>Anyone building APIs, adding “Login with…”, or heading toward open banking / FAPI.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OAuth/JWT/FAPI Workshop</dc:creator>
  <cp:lastModifiedBy/>
  <cp:revision>2</cp:revision>
  <dcterms:created xsi:type="dcterms:W3CDTF">2026-06-21T16:21:22Z</dcterms:created>
  <dcterms:modified xsi:type="dcterms:W3CDTF">2026-06-21T16:46:56Z</dcterms:modified>
</cp:coreProperties>
</file>